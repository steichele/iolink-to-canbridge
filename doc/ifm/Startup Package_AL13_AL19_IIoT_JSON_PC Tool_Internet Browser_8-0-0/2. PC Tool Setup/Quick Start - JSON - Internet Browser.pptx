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7"/>
  </p:notesMasterIdLst>
  <p:handoutMasterIdLst>
    <p:handoutMasterId r:id="rId18"/>
  </p:handoutMasterIdLst>
  <p:sldIdLst>
    <p:sldId id="256" r:id="rId3"/>
    <p:sldId id="270" r:id="rId4"/>
    <p:sldId id="268" r:id="rId5"/>
    <p:sldId id="269" r:id="rId6"/>
    <p:sldId id="271" r:id="rId7"/>
    <p:sldId id="272" r:id="rId8"/>
    <p:sldId id="260" r:id="rId9"/>
    <p:sldId id="263" r:id="rId10"/>
    <p:sldId id="264" r:id="rId11"/>
    <p:sldId id="261" r:id="rId12"/>
    <p:sldId id="262" r:id="rId13"/>
    <p:sldId id="265" r:id="rId14"/>
    <p:sldId id="266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9655" autoAdjust="0"/>
  </p:normalViewPr>
  <p:slideViewPr>
    <p:cSldViewPr snapToGrid="0">
      <p:cViewPr varScale="1">
        <p:scale>
          <a:sx n="104" d="100"/>
          <a:sy n="104" d="100"/>
        </p:scale>
        <p:origin x="1806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FBF508-E394-4624-B00D-4F03FFC37CDC}" type="datetimeFigureOut">
              <a:rPr lang="de-DE" smtClean="0"/>
              <a:t>26.02.2019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 smtClean="0"/>
              <a:t>bfgdg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4091-ADDC-49B6-B4C0-CF3695A466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93388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14C34-05B3-4FA4-99BD-4133F57C8D1E}" type="datetimeFigureOut">
              <a:rPr lang="de-DE" smtClean="0"/>
              <a:t>26.02.2019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 smtClean="0"/>
              <a:t>bfgdg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143A06-AEBE-400D-8922-8C4E0D542A66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15246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Februar 2019</a:t>
            </a: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ifm ecomatic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603C-7429-4ED8-87EC-5A9CB17260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3068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Februar 2019</a:t>
            </a: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ifm ecomatic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603C-7429-4ED8-87EC-5A9CB17260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8735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Februar 2019</a:t>
            </a: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ifm ecomatic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603C-7429-4ED8-87EC-5A9CB17260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5226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Februar 2019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ifm ecomatic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603C-7429-4ED8-87EC-5A9CB17260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171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Februar 2019</a:t>
            </a:r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ifm ecomatic</a:t>
            </a:r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603C-7429-4ED8-87EC-5A9CB17260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584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Februar 2019</a:t>
            </a:r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ifm ecomatic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603C-7429-4ED8-87EC-5A9CB17260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0681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Februar 2019</a:t>
            </a:r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ifm ecomatic</a:t>
            </a:r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603C-7429-4ED8-87EC-5A9CB17260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8189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Februar 2019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ifm ecomatic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603C-7429-4ED8-87EC-5A9CB17260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398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Februar 2019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ifm ecomatic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603C-7429-4ED8-87EC-5A9CB17260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5698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Februar 2019</a:t>
            </a: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ifm ecomatic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603C-7429-4ED8-87EC-5A9CB17260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2024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Februar 2019</a:t>
            </a: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ifm ecomatic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603C-7429-4ED8-87EC-5A9CB17260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6375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comatic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2"/>
          <p:cNvSpPr>
            <a:spLocks noChangeArrowheads="1"/>
          </p:cNvSpPr>
          <p:nvPr userDrawn="1"/>
        </p:nvSpPr>
        <p:spPr bwMode="auto">
          <a:xfrm>
            <a:off x="0" y="1148556"/>
            <a:ext cx="1295400" cy="570547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FF9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>
              <a:latin typeface="Arial" charset="0"/>
              <a:ea typeface="ＭＳ Ｐゴシック" charset="0"/>
            </a:endParaRPr>
          </a:p>
        </p:txBody>
      </p:sp>
      <p:pic>
        <p:nvPicPr>
          <p:cNvPr id="4" name="Bild 8" descr="Kopf neutral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97"/>
          <a:stretch>
            <a:fillRect/>
          </a:stretch>
        </p:blipFill>
        <p:spPr bwMode="auto">
          <a:xfrm>
            <a:off x="0" y="0"/>
            <a:ext cx="91440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0066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012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smtClean="0"/>
              <a:t>Februar 2019</a:t>
            </a: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smtClean="0"/>
              <a:t>ifm ecomatic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1603C-7429-4ED8-87EC-5A9CB17260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092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374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ifm.com/de/en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0.10/gettree" TargetMode="External"/><Relationship Id="rId2" Type="http://schemas.openxmlformats.org/officeDocument/2006/relationships/hyperlink" Target="https://addons.mozilla.org/de/firefox/addon/jsonview/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://192.168.0.10/iolinkmaster/port%5b1%5d/iolinkdevice/pdin/getdata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hyperlink" Target="https://www.ifm.com/de/en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552700" y="2983200"/>
            <a:ext cx="4038600" cy="1681164"/>
          </a:xfrm>
        </p:spPr>
        <p:txBody>
          <a:bodyPr>
            <a:noAutofit/>
          </a:bodyPr>
          <a:lstStyle/>
          <a:p>
            <a:r>
              <a:rPr lang="de-DE" sz="36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1800" dirty="0" err="1" smtClean="0">
                <a:solidFill>
                  <a:schemeClr val="accent1">
                    <a:lumMod val="75000"/>
                  </a:schemeClr>
                </a:solidFill>
              </a:rPr>
              <a:t>Iot</a:t>
            </a:r>
            <a:r>
              <a:rPr lang="de-DE" sz="1800" dirty="0" smtClean="0">
                <a:solidFill>
                  <a:schemeClr val="accent1">
                    <a:lumMod val="75000"/>
                  </a:schemeClr>
                </a:solidFill>
              </a:rPr>
              <a:t> Core</a:t>
            </a:r>
          </a:p>
          <a:p>
            <a:r>
              <a:rPr lang="de-DE" sz="2800" dirty="0" err="1" smtClean="0">
                <a:solidFill>
                  <a:schemeClr val="accent1">
                    <a:lumMod val="75000"/>
                  </a:schemeClr>
                </a:solidFill>
              </a:rPr>
              <a:t>Get</a:t>
            </a:r>
            <a:r>
              <a:rPr lang="de-DE" sz="28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2800" dirty="0" err="1" smtClean="0">
                <a:solidFill>
                  <a:schemeClr val="accent1">
                    <a:lumMod val="75000"/>
                  </a:schemeClr>
                </a:solidFill>
              </a:rPr>
              <a:t>requests</a:t>
            </a:r>
            <a:r>
              <a:rPr lang="de-DE" sz="2800" dirty="0" smtClean="0">
                <a:solidFill>
                  <a:schemeClr val="accent1">
                    <a:lumMod val="75000"/>
                  </a:schemeClr>
                </a:solidFill>
              </a:rPr>
              <a:t>    </a:t>
            </a:r>
          </a:p>
          <a:p>
            <a:r>
              <a:rPr lang="de-DE" sz="4400" dirty="0" smtClean="0">
                <a:solidFill>
                  <a:schemeClr val="accent1">
                    <a:lumMod val="75000"/>
                  </a:schemeClr>
                </a:solidFill>
              </a:rPr>
              <a:t>Internet Browser</a:t>
            </a:r>
            <a:endParaRPr lang="de-DE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Bild 8" descr="Kopf neutral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97"/>
          <a:stretch>
            <a:fillRect/>
          </a:stretch>
        </p:blipFill>
        <p:spPr bwMode="auto">
          <a:xfrm>
            <a:off x="0" y="0"/>
            <a:ext cx="91440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706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1699491" y="1976582"/>
            <a:ext cx="338143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Content</a:t>
            </a:r>
          </a:p>
          <a:p>
            <a:endParaRPr lang="de-DE" dirty="0"/>
          </a:p>
          <a:p>
            <a:r>
              <a:rPr lang="de-DE" dirty="0" smtClean="0"/>
              <a:t>Set IP </a:t>
            </a:r>
            <a:r>
              <a:rPr lang="de-DE" dirty="0" err="1" smtClean="0"/>
              <a:t>address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IoT</a:t>
            </a:r>
            <a:r>
              <a:rPr lang="de-DE" dirty="0" smtClean="0"/>
              <a:t> </a:t>
            </a:r>
            <a:r>
              <a:rPr lang="de-DE" dirty="0" err="1" smtClean="0"/>
              <a:t>port</a:t>
            </a:r>
            <a:endParaRPr lang="de-DE" dirty="0" smtClean="0"/>
          </a:p>
          <a:p>
            <a:r>
              <a:rPr lang="de-DE" dirty="0" err="1" smtClean="0"/>
              <a:t>Iot</a:t>
            </a:r>
            <a:r>
              <a:rPr lang="de-DE" dirty="0" smtClean="0"/>
              <a:t> </a:t>
            </a:r>
          </a:p>
          <a:p>
            <a:r>
              <a:rPr lang="de-DE" dirty="0" err="1" smtClean="0"/>
              <a:t>Example</a:t>
            </a:r>
            <a:r>
              <a:rPr lang="de-DE" dirty="0" smtClean="0"/>
              <a:t> 1: </a:t>
            </a:r>
            <a:r>
              <a:rPr lang="de-DE" dirty="0" err="1" smtClean="0"/>
              <a:t>Get</a:t>
            </a:r>
            <a:r>
              <a:rPr lang="de-DE" dirty="0" smtClean="0"/>
              <a:t> </a:t>
            </a:r>
            <a:r>
              <a:rPr lang="de-DE" dirty="0" err="1" smtClean="0"/>
              <a:t>tree</a:t>
            </a:r>
            <a:endParaRPr lang="de-DE" dirty="0" smtClean="0"/>
          </a:p>
          <a:p>
            <a:r>
              <a:rPr lang="de-DE" dirty="0" err="1" smtClean="0"/>
              <a:t>Example</a:t>
            </a:r>
            <a:r>
              <a:rPr lang="de-DE" dirty="0" smtClean="0"/>
              <a:t> 2: </a:t>
            </a:r>
            <a:r>
              <a:rPr lang="de-DE" dirty="0" err="1" smtClean="0"/>
              <a:t>Get</a:t>
            </a:r>
            <a:r>
              <a:rPr lang="de-DE" dirty="0" smtClean="0"/>
              <a:t> </a:t>
            </a:r>
            <a:r>
              <a:rPr lang="de-DE" dirty="0" err="1" smtClean="0"/>
              <a:t>input</a:t>
            </a:r>
            <a:r>
              <a:rPr lang="de-DE" dirty="0" smtClean="0"/>
              <a:t> </a:t>
            </a:r>
            <a:r>
              <a:rPr lang="de-DE" dirty="0" err="1" smtClean="0"/>
              <a:t>process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33285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1944255" y="1535729"/>
            <a:ext cx="65716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de-DE" sz="12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To set the IP address of the </a:t>
            </a:r>
            <a:r>
              <a:rPr lang="en-US" sz="16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IoT</a:t>
            </a:r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port use </a:t>
            </a:r>
            <a:r>
              <a:rPr lang="en-US" sz="1600" dirty="0" smtClean="0">
                <a:solidFill>
                  <a:srgbClr val="00B0F0"/>
                </a:solidFill>
                <a:latin typeface="Calibri" panose="020F0502020204030204" pitchFamily="34" charset="0"/>
              </a:rPr>
              <a:t>Ethernet Device Configuration Tool</a:t>
            </a: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942" y="2289834"/>
            <a:ext cx="3744000" cy="1570053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870" y="4019867"/>
            <a:ext cx="3132000" cy="1147488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011" y="2495123"/>
            <a:ext cx="468000" cy="1128400"/>
          </a:xfrm>
          <a:prstGeom prst="rect">
            <a:avLst/>
          </a:prstGeom>
        </p:spPr>
      </p:pic>
      <p:sp>
        <p:nvSpPr>
          <p:cNvPr id="12" name="Rechteck 11"/>
          <p:cNvSpPr/>
          <p:nvPr/>
        </p:nvSpPr>
        <p:spPr>
          <a:xfrm>
            <a:off x="1579418" y="5722840"/>
            <a:ext cx="730134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00B0F0"/>
                </a:solidFill>
                <a:latin typeface="Calibri" panose="020F0502020204030204" pitchFamily="34" charset="0"/>
              </a:rPr>
              <a:t>Ethernet Device </a:t>
            </a:r>
            <a:r>
              <a:rPr lang="de-DE" sz="1600" dirty="0" err="1">
                <a:solidFill>
                  <a:srgbClr val="00B0F0"/>
                </a:solidFill>
                <a:latin typeface="Calibri" panose="020F0502020204030204" pitchFamily="34" charset="0"/>
              </a:rPr>
              <a:t>Configuration</a:t>
            </a:r>
            <a:r>
              <a:rPr lang="de-DE" sz="1600" dirty="0">
                <a:solidFill>
                  <a:srgbClr val="00B0F0"/>
                </a:solidFill>
                <a:latin typeface="Calibri" panose="020F0502020204030204" pitchFamily="34" charset="0"/>
              </a:rPr>
              <a:t> </a:t>
            </a:r>
            <a:r>
              <a:rPr lang="de-DE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Tool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de-DE" sz="16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is</a:t>
            </a:r>
            <a:r>
              <a:rPr lang="de-DE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f</a:t>
            </a:r>
            <a:r>
              <a:rPr lang="en-US" sz="16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ree</a:t>
            </a:r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of charge software that is </a:t>
            </a: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only used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to set the IP address of the IO-Link module</a:t>
            </a:r>
            <a:endParaRPr lang="de-DE" sz="1600" dirty="0"/>
          </a:p>
        </p:txBody>
      </p:sp>
      <p:sp>
        <p:nvSpPr>
          <p:cNvPr id="2" name="Textfeld 1"/>
          <p:cNvSpPr txBox="1"/>
          <p:nvPr/>
        </p:nvSpPr>
        <p:spPr>
          <a:xfrm>
            <a:off x="6623182" y="703989"/>
            <a:ext cx="2520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Set IP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Address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Iot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port</a:t>
            </a:r>
            <a:endParaRPr lang="de-DE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069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1265383" y="1240227"/>
            <a:ext cx="77677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1. Go to the </a:t>
            </a:r>
            <a:r>
              <a:rPr lang="en-US" sz="1600" dirty="0" err="1">
                <a:solidFill>
                  <a:srgbClr val="000000"/>
                </a:solidFill>
                <a:latin typeface="Calibri" panose="020F0502020204030204" pitchFamily="34" charset="0"/>
                <a:hlinkClick r:id="rId2"/>
              </a:rPr>
              <a:t>ifm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hlinkClick r:id="rId2"/>
              </a:rPr>
              <a:t> global </a:t>
            </a:r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  <a:hlinkClick r:id="rId2"/>
              </a:rPr>
              <a:t>website</a:t>
            </a:r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select your country. </a:t>
            </a:r>
          </a:p>
          <a:p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2. Text search </a:t>
            </a:r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“</a:t>
            </a:r>
            <a:r>
              <a:rPr lang="en-US" sz="1600" dirty="0" smtClean="0">
                <a:solidFill>
                  <a:srgbClr val="00B050"/>
                </a:solidFill>
                <a:latin typeface="Calibri" panose="020F0502020204030204" pitchFamily="34" charset="0"/>
              </a:rPr>
              <a:t>Ethernet device </a:t>
            </a:r>
            <a:r>
              <a:rPr lang="en-US" sz="1600" dirty="0" err="1">
                <a:solidFill>
                  <a:srgbClr val="00B050"/>
                </a:solidFill>
                <a:latin typeface="Calibri" panose="020F0502020204030204" pitchFamily="34" charset="0"/>
              </a:rPr>
              <a:t>config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” to find the Ethernet Device Configuration Tool. </a:t>
            </a:r>
          </a:p>
          <a:p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3. Click </a:t>
            </a:r>
            <a:r>
              <a:rPr lang="en-US" sz="1600" dirty="0">
                <a:solidFill>
                  <a:srgbClr val="00B050"/>
                </a:solidFill>
                <a:latin typeface="Calibri" panose="020F0502020204030204" pitchFamily="34" charset="0"/>
              </a:rPr>
              <a:t>Show Downloads for this search term…</a:t>
            </a:r>
            <a:endParaRPr lang="de-DE" sz="1600" dirty="0">
              <a:solidFill>
                <a:srgbClr val="00B050"/>
              </a:solidFill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165" y="2071224"/>
            <a:ext cx="4860000" cy="2600303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1360055" y="4671527"/>
            <a:ext cx="75784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4. Download </a:t>
            </a:r>
            <a:r>
              <a:rPr lang="en-US" sz="1600" dirty="0"/>
              <a:t>the </a:t>
            </a:r>
            <a:r>
              <a:rPr lang="en-US" sz="1600" dirty="0">
                <a:solidFill>
                  <a:srgbClr val="00B050"/>
                </a:solidFill>
              </a:rPr>
              <a:t>Ethernet Device Configuration </a:t>
            </a:r>
            <a:r>
              <a:rPr lang="en-US" sz="1600" dirty="0"/>
              <a:t>software found in the search results. </a:t>
            </a:r>
            <a:endParaRPr lang="en-US" sz="16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Note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: A “my </a:t>
            </a:r>
            <a:r>
              <a:rPr lang="en-US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ifm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” account must be created and logged in before downloading. Follow the prompts to create a “my </a:t>
            </a:r>
            <a:r>
              <a:rPr lang="en-US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ifm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” account. </a:t>
            </a:r>
            <a:endParaRPr lang="de-DE" sz="160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3690" y="5502524"/>
            <a:ext cx="4583545" cy="1325500"/>
          </a:xfrm>
          <a:prstGeom prst="rect">
            <a:avLst/>
          </a:prstGeom>
        </p:spPr>
      </p:pic>
      <p:sp>
        <p:nvSpPr>
          <p:cNvPr id="8" name="Textfeld 7"/>
          <p:cNvSpPr txBox="1"/>
          <p:nvPr/>
        </p:nvSpPr>
        <p:spPr>
          <a:xfrm>
            <a:off x="6623182" y="703989"/>
            <a:ext cx="2520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Set IP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Address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Iot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port</a:t>
            </a:r>
            <a:endParaRPr lang="de-DE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304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1343889" y="1489516"/>
            <a:ext cx="70519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5. Install and Start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the Ethernet Device Configuration software by going to </a:t>
            </a:r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Start-</a:t>
            </a:r>
            <a:r>
              <a:rPr lang="en-US" sz="16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Hilscher</a:t>
            </a:r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-Ethernet </a:t>
            </a:r>
            <a:r>
              <a:rPr lang="de-DE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Device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Configuration</a:t>
            </a:r>
            <a:endParaRPr lang="de-DE" sz="160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436" y="2271888"/>
            <a:ext cx="2443200" cy="2240334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1343889" y="6114473"/>
            <a:ext cx="7511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smtClean="0"/>
              <a:t>6. Connect </a:t>
            </a:r>
            <a:r>
              <a:rPr lang="de-DE" sz="1600" dirty="0" err="1" smtClean="0"/>
              <a:t>the</a:t>
            </a:r>
            <a:r>
              <a:rPr lang="de-DE" sz="1600" dirty="0" smtClean="0"/>
              <a:t> Ethernet </a:t>
            </a:r>
            <a:r>
              <a:rPr lang="de-DE" sz="1600" dirty="0" err="1" smtClean="0"/>
              <a:t>cable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</a:t>
            </a:r>
            <a:r>
              <a:rPr lang="de-DE" sz="1600" dirty="0" err="1" smtClean="0"/>
              <a:t>the</a:t>
            </a:r>
            <a:r>
              <a:rPr lang="de-DE" sz="1600" dirty="0" smtClean="0"/>
              <a:t> </a:t>
            </a:r>
            <a:r>
              <a:rPr lang="de-DE" sz="1600" dirty="0" err="1" smtClean="0"/>
              <a:t>Iot</a:t>
            </a:r>
            <a:r>
              <a:rPr lang="de-DE" sz="1600" dirty="0" smtClean="0"/>
              <a:t> </a:t>
            </a:r>
            <a:r>
              <a:rPr lang="de-DE" sz="1600" dirty="0" err="1" smtClean="0"/>
              <a:t>port</a:t>
            </a:r>
            <a:r>
              <a:rPr lang="de-DE" sz="1600" dirty="0" smtClean="0"/>
              <a:t> </a:t>
            </a:r>
            <a:r>
              <a:rPr lang="de-DE" sz="1600" dirty="0" err="1" smtClean="0"/>
              <a:t>and</a:t>
            </a:r>
            <a:r>
              <a:rPr lang="de-DE" sz="1600" dirty="0" smtClean="0"/>
              <a:t> </a:t>
            </a:r>
            <a:r>
              <a:rPr lang="de-DE" sz="1600" dirty="0" err="1" smtClean="0"/>
              <a:t>click</a:t>
            </a:r>
            <a:r>
              <a:rPr lang="de-DE" sz="1600" dirty="0" smtClean="0"/>
              <a:t> </a:t>
            </a:r>
            <a:r>
              <a:rPr lang="de-DE" sz="1600" dirty="0" smtClean="0">
                <a:solidFill>
                  <a:srgbClr val="00B0F0"/>
                </a:solidFill>
              </a:rPr>
              <a:t>Search Devices </a:t>
            </a:r>
            <a:r>
              <a:rPr lang="de-DE" sz="1600" dirty="0" err="1" smtClean="0"/>
              <a:t>to</a:t>
            </a:r>
            <a:r>
              <a:rPr lang="de-DE" sz="1600" dirty="0" smtClean="0"/>
              <a:t> find </a:t>
            </a:r>
            <a:r>
              <a:rPr lang="de-DE" sz="1600" dirty="0" err="1" smtClean="0"/>
              <a:t>the</a:t>
            </a:r>
            <a:r>
              <a:rPr lang="de-DE" sz="1600" dirty="0" smtClean="0"/>
              <a:t> IO-Link </a:t>
            </a:r>
            <a:r>
              <a:rPr lang="de-DE" sz="1600" dirty="0" err="1" smtClean="0"/>
              <a:t>modules</a:t>
            </a:r>
            <a:r>
              <a:rPr lang="de-DE" sz="1600" dirty="0" smtClean="0"/>
              <a:t> </a:t>
            </a:r>
            <a:r>
              <a:rPr lang="de-DE" sz="1600" dirty="0" err="1" smtClean="0"/>
              <a:t>connected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</a:t>
            </a:r>
            <a:r>
              <a:rPr lang="de-DE" sz="1600" dirty="0" err="1" smtClean="0"/>
              <a:t>the</a:t>
            </a:r>
            <a:r>
              <a:rPr lang="de-DE" sz="1600" dirty="0" smtClean="0"/>
              <a:t> PC</a:t>
            </a:r>
            <a:endParaRPr lang="de-DE" sz="160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995" y="2182021"/>
            <a:ext cx="4212000" cy="3219604"/>
          </a:xfrm>
          <a:prstGeom prst="rect">
            <a:avLst/>
          </a:prstGeom>
        </p:spPr>
      </p:pic>
      <p:sp>
        <p:nvSpPr>
          <p:cNvPr id="8" name="Abgerundetes Rechteck 7"/>
          <p:cNvSpPr/>
          <p:nvPr/>
        </p:nvSpPr>
        <p:spPr>
          <a:xfrm>
            <a:off x="7065818" y="4978400"/>
            <a:ext cx="822037" cy="295564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/>
          <p:cNvSpPr txBox="1"/>
          <p:nvPr/>
        </p:nvSpPr>
        <p:spPr>
          <a:xfrm>
            <a:off x="6623182" y="703989"/>
            <a:ext cx="2520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Set IP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Address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Iot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port</a:t>
            </a:r>
            <a:endParaRPr lang="de-DE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322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164" y="2608406"/>
            <a:ext cx="5328000" cy="2777442"/>
          </a:xfrm>
          <a:prstGeom prst="rect">
            <a:avLst/>
          </a:prstGeom>
        </p:spPr>
      </p:pic>
      <p:sp>
        <p:nvSpPr>
          <p:cNvPr id="3" name="Textfeld 2"/>
          <p:cNvSpPr txBox="1"/>
          <p:nvPr/>
        </p:nvSpPr>
        <p:spPr>
          <a:xfrm>
            <a:off x="1413164" y="1435608"/>
            <a:ext cx="719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r>
              <a:rPr lang="en-US" dirty="0" smtClean="0"/>
              <a:t>. </a:t>
            </a:r>
            <a:r>
              <a:rPr lang="en-US" dirty="0"/>
              <a:t>To change the IP address, select the IO-Link master found in the list. </a:t>
            </a:r>
          </a:p>
          <a:p>
            <a:r>
              <a:rPr lang="en-US" dirty="0"/>
              <a:t>8</a:t>
            </a:r>
            <a:r>
              <a:rPr lang="en-US" dirty="0" smtClean="0"/>
              <a:t>. </a:t>
            </a:r>
            <a:r>
              <a:rPr lang="en-US" dirty="0"/>
              <a:t>Click Configure-Set IP </a:t>
            </a:r>
            <a:r>
              <a:rPr lang="en-US" dirty="0" smtClean="0"/>
              <a:t>address and enter the IP address and subnet Mask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653" y="2534516"/>
            <a:ext cx="2196000" cy="2346762"/>
          </a:xfrm>
          <a:prstGeom prst="rect">
            <a:avLst/>
          </a:prstGeom>
        </p:spPr>
      </p:pic>
      <p:sp>
        <p:nvSpPr>
          <p:cNvPr id="6" name="Abgerundetes Rechteck 5"/>
          <p:cNvSpPr/>
          <p:nvPr/>
        </p:nvSpPr>
        <p:spPr>
          <a:xfrm>
            <a:off x="7010400" y="2937161"/>
            <a:ext cx="1995253" cy="628073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1413164" y="5582205"/>
            <a:ext cx="73107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</a:rPr>
              <a:t>9. Verify </a:t>
            </a: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</a:rPr>
              <a:t>that the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new </a:t>
            </a: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</a:rPr>
              <a:t>IP </a:t>
            </a:r>
            <a:r>
              <a:rPr lang="en-US" sz="1600" dirty="0">
                <a:solidFill>
                  <a:srgbClr val="00B0F0"/>
                </a:solidFill>
                <a:latin typeface="Calibri" panose="020F0502020204030204" pitchFamily="34" charset="0"/>
              </a:rPr>
              <a:t>address</a:t>
            </a: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of the IO-Link module has been set by clicking the </a:t>
            </a: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</a:rPr>
              <a:t>Search </a:t>
            </a:r>
            <a:r>
              <a:rPr lang="de-DE" dirty="0" smtClean="0">
                <a:solidFill>
                  <a:srgbClr val="000000"/>
                </a:solidFill>
                <a:latin typeface="Calibri" panose="020F0502020204030204" pitchFamily="34" charset="0"/>
              </a:rPr>
              <a:t>Devices </a:t>
            </a:r>
            <a:r>
              <a:rPr lang="de-DE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button</a:t>
            </a:r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de-DE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again</a:t>
            </a:r>
            <a:r>
              <a:rPr lang="de-DE" dirty="0" smtClean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6623182" y="703989"/>
            <a:ext cx="2520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Set IP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Address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Iot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port</a:t>
            </a:r>
            <a:endParaRPr lang="de-DE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934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feld 8"/>
          <p:cNvSpPr txBox="1"/>
          <p:nvPr/>
        </p:nvSpPr>
        <p:spPr>
          <a:xfrm>
            <a:off x="1811383" y="1219200"/>
            <a:ext cx="3455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 smtClean="0"/>
              <a:t>Ifm</a:t>
            </a:r>
            <a:r>
              <a:rPr lang="de-DE" b="1" dirty="0" smtClean="0"/>
              <a:t> </a:t>
            </a:r>
            <a:r>
              <a:rPr lang="de-DE" b="1" dirty="0" err="1" smtClean="0"/>
              <a:t>IoT</a:t>
            </a:r>
            <a:r>
              <a:rPr lang="de-DE" b="1" dirty="0" smtClean="0"/>
              <a:t> Core </a:t>
            </a:r>
            <a:r>
              <a:rPr lang="de-DE" b="1" dirty="0" err="1" smtClean="0"/>
              <a:t>is</a:t>
            </a:r>
            <a:r>
              <a:rPr lang="de-DE" b="1" dirty="0" smtClean="0"/>
              <a:t> </a:t>
            </a:r>
            <a:r>
              <a:rPr lang="de-DE" b="1" dirty="0" err="1" smtClean="0"/>
              <a:t>the</a:t>
            </a:r>
            <a:r>
              <a:rPr lang="de-DE" b="1" dirty="0" smtClean="0"/>
              <a:t> </a:t>
            </a:r>
            <a:r>
              <a:rPr lang="de-DE" b="1" dirty="0" err="1" smtClean="0"/>
              <a:t>face</a:t>
            </a:r>
            <a:r>
              <a:rPr lang="de-DE" b="1" dirty="0" smtClean="0"/>
              <a:t> </a:t>
            </a:r>
            <a:r>
              <a:rPr lang="de-DE" b="1" dirty="0" err="1" smtClean="0"/>
              <a:t>of</a:t>
            </a:r>
            <a:r>
              <a:rPr lang="de-DE" b="1" dirty="0" smtClean="0"/>
              <a:t> a </a:t>
            </a:r>
            <a:r>
              <a:rPr lang="de-DE" b="1" dirty="0" err="1" smtClean="0"/>
              <a:t>device</a:t>
            </a:r>
            <a:endParaRPr lang="de-DE" b="1" dirty="0"/>
          </a:p>
        </p:txBody>
      </p:sp>
      <p:grpSp>
        <p:nvGrpSpPr>
          <p:cNvPr id="5" name="Gruppieren 4"/>
          <p:cNvGrpSpPr/>
          <p:nvPr/>
        </p:nvGrpSpPr>
        <p:grpSpPr>
          <a:xfrm>
            <a:off x="1811383" y="2023239"/>
            <a:ext cx="7139676" cy="2862322"/>
            <a:chOff x="1811383" y="2023239"/>
            <a:chExt cx="7139676" cy="2862322"/>
          </a:xfrm>
        </p:grpSpPr>
        <p:sp>
          <p:nvSpPr>
            <p:cNvPr id="15" name="Textfeld 14"/>
            <p:cNvSpPr txBox="1"/>
            <p:nvPr/>
          </p:nvSpPr>
          <p:spPr>
            <a:xfrm>
              <a:off x="1811383" y="2023239"/>
              <a:ext cx="7139676" cy="286232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dirty="0" smtClean="0"/>
                <a:t>The </a:t>
              </a:r>
              <a:r>
                <a:rPr lang="de-DE" dirty="0" err="1" smtClean="0"/>
                <a:t>IoT</a:t>
              </a:r>
              <a:r>
                <a:rPr lang="de-DE" dirty="0" smtClean="0"/>
                <a:t> </a:t>
              </a:r>
              <a:r>
                <a:rPr lang="de-DE" dirty="0" err="1" smtClean="0"/>
                <a:t>core</a:t>
              </a:r>
              <a:r>
                <a:rPr lang="de-DE" dirty="0" smtClean="0"/>
                <a:t> </a:t>
              </a:r>
              <a:r>
                <a:rPr lang="de-DE" dirty="0" err="1" smtClean="0"/>
                <a:t>is</a:t>
              </a:r>
              <a:r>
                <a:rPr lang="de-DE" dirty="0" smtClean="0"/>
                <a:t> </a:t>
              </a:r>
              <a:r>
                <a:rPr lang="de-DE" dirty="0" err="1" smtClean="0"/>
                <a:t>the</a:t>
              </a:r>
              <a:r>
                <a:rPr lang="de-DE" dirty="0" smtClean="0"/>
                <a:t> </a:t>
              </a:r>
              <a:r>
                <a:rPr lang="de-DE" dirty="0" err="1" smtClean="0">
                  <a:solidFill>
                    <a:srgbClr val="0070C0"/>
                  </a:solidFill>
                </a:rPr>
                <a:t>representation</a:t>
              </a:r>
              <a:r>
                <a:rPr lang="de-DE" dirty="0" smtClean="0">
                  <a:solidFill>
                    <a:srgbClr val="0070C0"/>
                  </a:solidFill>
                </a:rPr>
                <a:t> </a:t>
              </a:r>
              <a:r>
                <a:rPr lang="de-DE" dirty="0" err="1" smtClean="0">
                  <a:solidFill>
                    <a:srgbClr val="0070C0"/>
                  </a:solidFill>
                </a:rPr>
                <a:t>of</a:t>
              </a:r>
              <a:r>
                <a:rPr lang="de-DE" dirty="0" smtClean="0">
                  <a:solidFill>
                    <a:srgbClr val="0070C0"/>
                  </a:solidFill>
                </a:rPr>
                <a:t> </a:t>
              </a:r>
              <a:r>
                <a:rPr lang="de-DE" dirty="0" err="1" smtClean="0">
                  <a:solidFill>
                    <a:srgbClr val="0070C0"/>
                  </a:solidFill>
                </a:rPr>
                <a:t>the</a:t>
              </a:r>
              <a:r>
                <a:rPr lang="de-DE" dirty="0" smtClean="0">
                  <a:solidFill>
                    <a:srgbClr val="0070C0"/>
                  </a:solidFill>
                </a:rPr>
                <a:t> </a:t>
              </a:r>
              <a:r>
                <a:rPr lang="de-DE" dirty="0" err="1" smtClean="0">
                  <a:solidFill>
                    <a:srgbClr val="0070C0"/>
                  </a:solidFill>
                </a:rPr>
                <a:t>functionality</a:t>
              </a:r>
              <a:r>
                <a:rPr lang="de-DE" dirty="0" smtClean="0"/>
                <a:t> </a:t>
              </a:r>
              <a:r>
                <a:rPr lang="de-DE" dirty="0" err="1" smtClean="0"/>
                <a:t>of</a:t>
              </a:r>
              <a:r>
                <a:rPr lang="de-DE" dirty="0" smtClean="0"/>
                <a:t> a </a:t>
              </a:r>
              <a:r>
                <a:rPr lang="de-DE" dirty="0" err="1" smtClean="0"/>
                <a:t>device</a:t>
              </a:r>
              <a:r>
                <a:rPr lang="de-DE" dirty="0" smtClean="0"/>
                <a:t>. </a:t>
              </a:r>
            </a:p>
            <a:p>
              <a:endParaRPr lang="de-DE" dirty="0" smtClean="0"/>
            </a:p>
            <a:p>
              <a:endParaRPr lang="de-DE" dirty="0" smtClean="0"/>
            </a:p>
            <a:p>
              <a:endParaRPr lang="de-DE" dirty="0" smtClean="0"/>
            </a:p>
            <a:p>
              <a:r>
                <a:rPr lang="de-DE" dirty="0" smtClean="0"/>
                <a:t>			  		</a:t>
              </a:r>
              <a:r>
                <a:rPr lang="de-DE" dirty="0" err="1" smtClean="0"/>
                <a:t>IoT</a:t>
              </a:r>
              <a:r>
                <a:rPr lang="de-DE" dirty="0" smtClean="0"/>
                <a:t> Core 			</a:t>
              </a:r>
            </a:p>
            <a:p>
              <a:endParaRPr lang="de-DE" dirty="0"/>
            </a:p>
            <a:p>
              <a:endParaRPr lang="de-DE" dirty="0" smtClean="0"/>
            </a:p>
            <a:p>
              <a:r>
                <a:rPr lang="de-DE" dirty="0" smtClean="0"/>
                <a:t>Description in a </a:t>
              </a:r>
              <a:r>
                <a:rPr lang="de-DE" dirty="0" err="1" smtClean="0"/>
                <a:t>structured</a:t>
              </a:r>
              <a:r>
                <a:rPr lang="de-DE" dirty="0" smtClean="0"/>
                <a:t> </a:t>
              </a:r>
              <a:r>
                <a:rPr lang="de-DE" dirty="0" err="1" smtClean="0"/>
                <a:t>tree</a:t>
              </a:r>
              <a:r>
                <a:rPr lang="de-DE" dirty="0" smtClean="0"/>
                <a:t> </a:t>
              </a:r>
              <a:r>
                <a:rPr lang="de-DE" dirty="0" err="1" smtClean="0"/>
                <a:t>of</a:t>
              </a:r>
              <a:r>
                <a:rPr lang="de-DE" dirty="0" smtClean="0"/>
                <a:t> </a:t>
              </a:r>
              <a:r>
                <a:rPr lang="de-DE" dirty="0" err="1" smtClean="0"/>
                <a:t>elements</a:t>
              </a:r>
              <a:r>
                <a:rPr lang="de-DE" dirty="0" smtClean="0"/>
                <a:t>, </a:t>
              </a:r>
              <a:r>
                <a:rPr lang="en-US" dirty="0" smtClean="0"/>
                <a:t>where </a:t>
              </a:r>
              <a:r>
                <a:rPr lang="en-US" dirty="0"/>
                <a:t>each element typed </a:t>
              </a:r>
              <a:r>
                <a:rPr lang="en-US" dirty="0">
                  <a:solidFill>
                    <a:srgbClr val="0070C0"/>
                  </a:solidFill>
                </a:rPr>
                <a:t>service</a:t>
              </a:r>
              <a:r>
                <a:rPr lang="en-US" dirty="0"/>
                <a:t>, </a:t>
              </a:r>
              <a:r>
                <a:rPr lang="en-US" dirty="0">
                  <a:solidFill>
                    <a:srgbClr val="00B050"/>
                  </a:solidFill>
                </a:rPr>
                <a:t>data</a:t>
              </a:r>
              <a:r>
                <a:rPr lang="en-US" dirty="0"/>
                <a:t>, </a:t>
              </a:r>
              <a:r>
                <a:rPr lang="en-US" dirty="0">
                  <a:solidFill>
                    <a:srgbClr val="FF0000"/>
                  </a:solidFill>
                </a:rPr>
                <a:t>event</a:t>
              </a:r>
              <a:r>
                <a:rPr lang="en-US" dirty="0"/>
                <a:t> structure with a device </a:t>
              </a:r>
              <a:r>
                <a:rPr lang="en-US" dirty="0" smtClean="0"/>
                <a:t>element at </a:t>
              </a:r>
              <a:r>
                <a:rPr lang="en-US" dirty="0"/>
                <a:t>the root of the structure.</a:t>
              </a:r>
              <a:endParaRPr lang="de-DE" dirty="0"/>
            </a:p>
          </p:txBody>
        </p:sp>
        <p:sp>
          <p:nvSpPr>
            <p:cNvPr id="3" name="Nach links gekrümmter Pfeil 2"/>
            <p:cNvSpPr/>
            <p:nvPr/>
          </p:nvSpPr>
          <p:spPr>
            <a:xfrm>
              <a:off x="5381221" y="3362036"/>
              <a:ext cx="354561" cy="46181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4" name="Diagonal liegende Ecken des Rechtecks schneiden 3"/>
            <p:cNvSpPr/>
            <p:nvPr/>
          </p:nvSpPr>
          <p:spPr>
            <a:xfrm>
              <a:off x="4034737" y="2992582"/>
              <a:ext cx="1256146" cy="508000"/>
            </a:xfrm>
            <a:prstGeom prst="snip2Diag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" name="Textfeld 7"/>
          <p:cNvSpPr txBox="1"/>
          <p:nvPr/>
        </p:nvSpPr>
        <p:spPr>
          <a:xfrm>
            <a:off x="8212142" y="750171"/>
            <a:ext cx="931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Iot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Core</a:t>
            </a:r>
            <a:endParaRPr lang="de-DE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26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1314999" y="1171412"/>
            <a:ext cx="731516" cy="243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 smtClean="0"/>
              <a:t>device</a:t>
            </a:r>
            <a:endParaRPr lang="de-DE" sz="1200" dirty="0"/>
          </a:p>
        </p:txBody>
      </p:sp>
      <p:sp>
        <p:nvSpPr>
          <p:cNvPr id="7" name="Rechteck 6"/>
          <p:cNvSpPr/>
          <p:nvPr/>
        </p:nvSpPr>
        <p:spPr>
          <a:xfrm>
            <a:off x="2386137" y="1194035"/>
            <a:ext cx="1431600" cy="21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 smtClean="0"/>
              <a:t>gettree</a:t>
            </a:r>
            <a:endParaRPr lang="de-DE" sz="1200" dirty="0"/>
          </a:p>
        </p:txBody>
      </p:sp>
      <p:sp>
        <p:nvSpPr>
          <p:cNvPr id="8" name="Rechteck 7"/>
          <p:cNvSpPr/>
          <p:nvPr/>
        </p:nvSpPr>
        <p:spPr>
          <a:xfrm>
            <a:off x="2394844" y="1491993"/>
            <a:ext cx="1422893" cy="21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 smtClean="0"/>
              <a:t>getIdentity</a:t>
            </a:r>
            <a:endParaRPr lang="de-DE" sz="1200" dirty="0"/>
          </a:p>
        </p:txBody>
      </p:sp>
      <p:sp>
        <p:nvSpPr>
          <p:cNvPr id="10" name="Rechteck 9"/>
          <p:cNvSpPr/>
          <p:nvPr/>
        </p:nvSpPr>
        <p:spPr>
          <a:xfrm>
            <a:off x="2403547" y="2804936"/>
            <a:ext cx="1422892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 smtClean="0"/>
              <a:t>iolinkmaster</a:t>
            </a:r>
            <a:endParaRPr lang="de-DE" sz="1200" dirty="0"/>
          </a:p>
        </p:txBody>
      </p:sp>
      <p:sp>
        <p:nvSpPr>
          <p:cNvPr id="11" name="Rechteck 10"/>
          <p:cNvSpPr/>
          <p:nvPr/>
        </p:nvSpPr>
        <p:spPr>
          <a:xfrm>
            <a:off x="3599768" y="3100249"/>
            <a:ext cx="632597" cy="220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smtClean="0"/>
              <a:t>Port[1]</a:t>
            </a:r>
            <a:endParaRPr lang="de-DE" sz="1200" dirty="0"/>
          </a:p>
        </p:txBody>
      </p:sp>
      <p:cxnSp>
        <p:nvCxnSpPr>
          <p:cNvPr id="6" name="Gewinkelter Verbinder 5"/>
          <p:cNvCxnSpPr>
            <a:stCxn id="10" idx="2"/>
            <a:endCxn id="11" idx="1"/>
          </p:cNvCxnSpPr>
          <p:nvPr/>
        </p:nvCxnSpPr>
        <p:spPr>
          <a:xfrm rot="16200000" flipH="1">
            <a:off x="3262713" y="2873215"/>
            <a:ext cx="189335" cy="4847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/>
          <p:cNvSpPr/>
          <p:nvPr/>
        </p:nvSpPr>
        <p:spPr>
          <a:xfrm>
            <a:off x="4167769" y="3410310"/>
            <a:ext cx="929414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 smtClean="0"/>
              <a:t>iolinkdevice</a:t>
            </a:r>
            <a:endParaRPr lang="de-DE" sz="1200" dirty="0"/>
          </a:p>
        </p:txBody>
      </p:sp>
      <p:cxnSp>
        <p:nvCxnSpPr>
          <p:cNvPr id="23" name="Gewinkelter Verbinder 22"/>
          <p:cNvCxnSpPr>
            <a:stCxn id="11" idx="2"/>
            <a:endCxn id="22" idx="1"/>
          </p:cNvCxnSpPr>
          <p:nvPr/>
        </p:nvCxnSpPr>
        <p:spPr>
          <a:xfrm rot="16200000" flipH="1">
            <a:off x="3942910" y="3293450"/>
            <a:ext cx="198017" cy="2517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hteck 23"/>
          <p:cNvSpPr/>
          <p:nvPr/>
        </p:nvSpPr>
        <p:spPr>
          <a:xfrm>
            <a:off x="4923470" y="3716327"/>
            <a:ext cx="711901" cy="216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 smtClean="0"/>
              <a:t>pdin</a:t>
            </a:r>
            <a:endParaRPr lang="de-DE" sz="1200" dirty="0"/>
          </a:p>
        </p:txBody>
      </p:sp>
      <p:cxnSp>
        <p:nvCxnSpPr>
          <p:cNvPr id="25" name="Gewinkelter Verbinder 24"/>
          <p:cNvCxnSpPr>
            <a:stCxn id="22" idx="2"/>
            <a:endCxn id="24" idx="1"/>
          </p:cNvCxnSpPr>
          <p:nvPr/>
        </p:nvCxnSpPr>
        <p:spPr>
          <a:xfrm rot="16200000" flipH="1">
            <a:off x="4678965" y="3579821"/>
            <a:ext cx="198017" cy="29099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hteck 26"/>
          <p:cNvSpPr/>
          <p:nvPr/>
        </p:nvSpPr>
        <p:spPr>
          <a:xfrm>
            <a:off x="4923470" y="4278938"/>
            <a:ext cx="711901" cy="216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 smtClean="0"/>
              <a:t>pdout</a:t>
            </a:r>
            <a:endParaRPr lang="de-DE" sz="1200" dirty="0"/>
          </a:p>
        </p:txBody>
      </p:sp>
      <p:sp>
        <p:nvSpPr>
          <p:cNvPr id="44" name="Rechteck 43"/>
          <p:cNvSpPr/>
          <p:nvPr/>
        </p:nvSpPr>
        <p:spPr>
          <a:xfrm>
            <a:off x="2403547" y="1797458"/>
            <a:ext cx="1414190" cy="3188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 smtClean="0"/>
              <a:t>processdatamaster</a:t>
            </a:r>
            <a:endParaRPr lang="de-DE" sz="1200" dirty="0"/>
          </a:p>
        </p:txBody>
      </p:sp>
      <p:sp>
        <p:nvSpPr>
          <p:cNvPr id="46" name="Rechteck 45"/>
          <p:cNvSpPr/>
          <p:nvPr/>
        </p:nvSpPr>
        <p:spPr>
          <a:xfrm>
            <a:off x="3599768" y="2201513"/>
            <a:ext cx="1064377" cy="216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 smtClean="0"/>
              <a:t>temperature</a:t>
            </a:r>
            <a:endParaRPr lang="de-DE" sz="1200" dirty="0"/>
          </a:p>
        </p:txBody>
      </p:sp>
      <p:cxnSp>
        <p:nvCxnSpPr>
          <p:cNvPr id="47" name="Gewinkelter Verbinder 46"/>
          <p:cNvCxnSpPr>
            <a:endCxn id="46" idx="1"/>
          </p:cNvCxnSpPr>
          <p:nvPr/>
        </p:nvCxnSpPr>
        <p:spPr>
          <a:xfrm>
            <a:off x="3315770" y="2107451"/>
            <a:ext cx="283998" cy="2020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winkelter Verbinder 48"/>
          <p:cNvCxnSpPr>
            <a:stCxn id="46" idx="2"/>
          </p:cNvCxnSpPr>
          <p:nvPr/>
        </p:nvCxnSpPr>
        <p:spPr>
          <a:xfrm rot="16200000" flipH="1">
            <a:off x="4144705" y="2404764"/>
            <a:ext cx="198017" cy="2235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winkelter Verbinder 56"/>
          <p:cNvCxnSpPr/>
          <p:nvPr/>
        </p:nvCxnSpPr>
        <p:spPr>
          <a:xfrm>
            <a:off x="5307386" y="3926759"/>
            <a:ext cx="327985" cy="181774"/>
          </a:xfrm>
          <a:prstGeom prst="bentConnector3">
            <a:avLst>
              <a:gd name="adj1" fmla="val -31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winkelter Verbinder 59"/>
          <p:cNvCxnSpPr/>
          <p:nvPr/>
        </p:nvCxnSpPr>
        <p:spPr>
          <a:xfrm>
            <a:off x="5307385" y="4508994"/>
            <a:ext cx="327985" cy="181774"/>
          </a:xfrm>
          <a:prstGeom prst="bentConnector3">
            <a:avLst>
              <a:gd name="adj1" fmla="val -31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winkelter Verbinder 60"/>
          <p:cNvCxnSpPr/>
          <p:nvPr/>
        </p:nvCxnSpPr>
        <p:spPr>
          <a:xfrm>
            <a:off x="5307384" y="4704824"/>
            <a:ext cx="302414" cy="2713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winkelter Verbinder 67"/>
          <p:cNvCxnSpPr>
            <a:endCxn id="27" idx="1"/>
          </p:cNvCxnSpPr>
          <p:nvPr/>
        </p:nvCxnSpPr>
        <p:spPr>
          <a:xfrm rot="16200000" flipH="1">
            <a:off x="4496668" y="3960135"/>
            <a:ext cx="562611" cy="29099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 Verbindung mit Pfeil 72"/>
          <p:cNvCxnSpPr>
            <a:endCxn id="7" idx="1"/>
          </p:cNvCxnSpPr>
          <p:nvPr/>
        </p:nvCxnSpPr>
        <p:spPr>
          <a:xfrm>
            <a:off x="2046515" y="1302035"/>
            <a:ext cx="3396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winkelter Verbinder 76"/>
          <p:cNvCxnSpPr>
            <a:endCxn id="8" idx="1"/>
          </p:cNvCxnSpPr>
          <p:nvPr/>
        </p:nvCxnSpPr>
        <p:spPr>
          <a:xfrm rot="16200000" flipH="1">
            <a:off x="2156606" y="1361755"/>
            <a:ext cx="297958" cy="17851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winkelter Verbinder 78"/>
          <p:cNvCxnSpPr>
            <a:endCxn id="44" idx="1"/>
          </p:cNvCxnSpPr>
          <p:nvPr/>
        </p:nvCxnSpPr>
        <p:spPr>
          <a:xfrm rot="16200000" flipH="1">
            <a:off x="2131495" y="1684823"/>
            <a:ext cx="356883" cy="1872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Gewinkelter Verbinder 80"/>
          <p:cNvCxnSpPr>
            <a:endCxn id="10" idx="1"/>
          </p:cNvCxnSpPr>
          <p:nvPr/>
        </p:nvCxnSpPr>
        <p:spPr>
          <a:xfrm rot="16200000" flipH="1">
            <a:off x="1831906" y="2341294"/>
            <a:ext cx="956061" cy="1872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feld 81"/>
          <p:cNvSpPr txBox="1"/>
          <p:nvPr/>
        </p:nvSpPr>
        <p:spPr>
          <a:xfrm>
            <a:off x="6534208" y="1155597"/>
            <a:ext cx="659155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e-DE" sz="1100" dirty="0" smtClean="0"/>
              <a:t>/</a:t>
            </a:r>
            <a:r>
              <a:rPr lang="de-DE" sz="1100" dirty="0" err="1" smtClean="0"/>
              <a:t>gettree</a:t>
            </a:r>
            <a:endParaRPr lang="de-DE" sz="1100" dirty="0"/>
          </a:p>
        </p:txBody>
      </p:sp>
      <p:sp>
        <p:nvSpPr>
          <p:cNvPr id="83" name="Textfeld 82"/>
          <p:cNvSpPr txBox="1"/>
          <p:nvPr/>
        </p:nvSpPr>
        <p:spPr>
          <a:xfrm>
            <a:off x="6534208" y="1456798"/>
            <a:ext cx="861133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e-DE" sz="1100" dirty="0" smtClean="0"/>
              <a:t>/</a:t>
            </a:r>
            <a:r>
              <a:rPr lang="de-DE" sz="1100" dirty="0" err="1" smtClean="0"/>
              <a:t>getidentity</a:t>
            </a:r>
            <a:endParaRPr lang="de-DE" sz="1100" dirty="0"/>
          </a:p>
        </p:txBody>
      </p:sp>
      <p:sp>
        <p:nvSpPr>
          <p:cNvPr id="84" name="Rechteck 83"/>
          <p:cNvSpPr/>
          <p:nvPr/>
        </p:nvSpPr>
        <p:spPr>
          <a:xfrm>
            <a:off x="4355470" y="2510010"/>
            <a:ext cx="711901" cy="21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 smtClean="0"/>
              <a:t>getdata</a:t>
            </a:r>
            <a:endParaRPr lang="de-DE" sz="1200" dirty="0"/>
          </a:p>
        </p:txBody>
      </p:sp>
      <p:sp>
        <p:nvSpPr>
          <p:cNvPr id="85" name="Rechteck 84"/>
          <p:cNvSpPr/>
          <p:nvPr/>
        </p:nvSpPr>
        <p:spPr>
          <a:xfrm>
            <a:off x="5609798" y="3981966"/>
            <a:ext cx="711901" cy="21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 smtClean="0"/>
              <a:t>getdata</a:t>
            </a:r>
            <a:endParaRPr lang="de-DE" sz="1200" dirty="0"/>
          </a:p>
        </p:txBody>
      </p:sp>
      <p:sp>
        <p:nvSpPr>
          <p:cNvPr id="86" name="Rechteck 85"/>
          <p:cNvSpPr/>
          <p:nvPr/>
        </p:nvSpPr>
        <p:spPr>
          <a:xfrm>
            <a:off x="5635370" y="4574971"/>
            <a:ext cx="711901" cy="21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 smtClean="0"/>
              <a:t>getdata</a:t>
            </a:r>
            <a:endParaRPr lang="de-DE" sz="1200" dirty="0"/>
          </a:p>
        </p:txBody>
      </p:sp>
      <p:sp>
        <p:nvSpPr>
          <p:cNvPr id="87" name="Rechteck 86"/>
          <p:cNvSpPr/>
          <p:nvPr/>
        </p:nvSpPr>
        <p:spPr>
          <a:xfrm>
            <a:off x="5609798" y="4856948"/>
            <a:ext cx="711901" cy="21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/>
              <a:t>s</a:t>
            </a:r>
            <a:r>
              <a:rPr lang="de-DE" sz="1200" dirty="0" err="1" smtClean="0"/>
              <a:t>etdata</a:t>
            </a:r>
            <a:endParaRPr lang="de-DE" sz="1200" dirty="0"/>
          </a:p>
        </p:txBody>
      </p:sp>
      <p:sp>
        <p:nvSpPr>
          <p:cNvPr id="88" name="Rechteck 87"/>
          <p:cNvSpPr/>
          <p:nvPr/>
        </p:nvSpPr>
        <p:spPr>
          <a:xfrm>
            <a:off x="1332417" y="5442874"/>
            <a:ext cx="792000" cy="14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 smtClean="0"/>
              <a:t>structure</a:t>
            </a:r>
            <a:endParaRPr lang="de-DE" sz="1200" dirty="0"/>
          </a:p>
        </p:txBody>
      </p:sp>
      <p:sp>
        <p:nvSpPr>
          <p:cNvPr id="89" name="Rechteck 88"/>
          <p:cNvSpPr/>
          <p:nvPr/>
        </p:nvSpPr>
        <p:spPr>
          <a:xfrm>
            <a:off x="1330231" y="6031599"/>
            <a:ext cx="792000" cy="144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 smtClean="0"/>
              <a:t>service</a:t>
            </a:r>
            <a:endParaRPr lang="de-DE" sz="1200" dirty="0"/>
          </a:p>
        </p:txBody>
      </p:sp>
      <p:sp>
        <p:nvSpPr>
          <p:cNvPr id="90" name="Rechteck 89"/>
          <p:cNvSpPr/>
          <p:nvPr/>
        </p:nvSpPr>
        <p:spPr>
          <a:xfrm>
            <a:off x="1330231" y="5733821"/>
            <a:ext cx="792000" cy="144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 smtClean="0"/>
              <a:t>data</a:t>
            </a:r>
            <a:endParaRPr lang="de-DE" sz="1200" dirty="0"/>
          </a:p>
        </p:txBody>
      </p:sp>
      <p:sp>
        <p:nvSpPr>
          <p:cNvPr id="91" name="Textfeld 90"/>
          <p:cNvSpPr txBox="1"/>
          <p:nvPr/>
        </p:nvSpPr>
        <p:spPr>
          <a:xfrm>
            <a:off x="6534208" y="3981966"/>
            <a:ext cx="2204450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e-DE" sz="1100" dirty="0" smtClean="0"/>
              <a:t>/</a:t>
            </a:r>
            <a:r>
              <a:rPr lang="de-DE" sz="1100" dirty="0" err="1" smtClean="0"/>
              <a:t>iolinkmaster</a:t>
            </a:r>
            <a:r>
              <a:rPr lang="de-DE" sz="1100" dirty="0" smtClean="0"/>
              <a:t>/</a:t>
            </a:r>
            <a:r>
              <a:rPr lang="de-DE" sz="1100" dirty="0" err="1" smtClean="0"/>
              <a:t>port</a:t>
            </a:r>
            <a:r>
              <a:rPr lang="de-DE" sz="1100" dirty="0" smtClean="0"/>
              <a:t>[1]/</a:t>
            </a:r>
            <a:r>
              <a:rPr lang="de-DE" sz="1100" dirty="0" err="1" smtClean="0"/>
              <a:t>pdin</a:t>
            </a:r>
            <a:r>
              <a:rPr lang="de-DE" sz="1100" dirty="0" smtClean="0"/>
              <a:t>/</a:t>
            </a:r>
            <a:r>
              <a:rPr lang="de-DE" sz="1100" dirty="0" err="1" smtClean="0"/>
              <a:t>getdata</a:t>
            </a:r>
            <a:endParaRPr lang="de-DE" sz="1100" dirty="0"/>
          </a:p>
        </p:txBody>
      </p:sp>
      <p:sp>
        <p:nvSpPr>
          <p:cNvPr id="92" name="Textfeld 91"/>
          <p:cNvSpPr txBox="1"/>
          <p:nvPr/>
        </p:nvSpPr>
        <p:spPr>
          <a:xfrm>
            <a:off x="6502150" y="2498565"/>
            <a:ext cx="2592000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1100" dirty="0" smtClean="0"/>
              <a:t>/</a:t>
            </a:r>
            <a:r>
              <a:rPr lang="de-DE" sz="1100" dirty="0" err="1" smtClean="0"/>
              <a:t>processdatamaster</a:t>
            </a:r>
            <a:r>
              <a:rPr lang="de-DE" sz="1100" dirty="0" smtClean="0"/>
              <a:t>/</a:t>
            </a:r>
            <a:r>
              <a:rPr lang="de-DE" sz="1100" dirty="0" err="1" smtClean="0"/>
              <a:t>temperature</a:t>
            </a:r>
            <a:r>
              <a:rPr lang="de-DE" sz="1100" dirty="0" smtClean="0"/>
              <a:t>/</a:t>
            </a:r>
            <a:r>
              <a:rPr lang="de-DE" sz="1100" dirty="0" err="1" smtClean="0"/>
              <a:t>getdata</a:t>
            </a:r>
            <a:endParaRPr lang="de-DE" sz="1100" dirty="0"/>
          </a:p>
        </p:txBody>
      </p:sp>
      <p:sp>
        <p:nvSpPr>
          <p:cNvPr id="95" name="Rechteck 94"/>
          <p:cNvSpPr/>
          <p:nvPr/>
        </p:nvSpPr>
        <p:spPr>
          <a:xfrm>
            <a:off x="4167769" y="5192730"/>
            <a:ext cx="929414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 smtClean="0"/>
              <a:t>iolinkdevice</a:t>
            </a:r>
            <a:endParaRPr lang="de-DE" sz="1200" dirty="0"/>
          </a:p>
        </p:txBody>
      </p:sp>
      <p:cxnSp>
        <p:nvCxnSpPr>
          <p:cNvPr id="96" name="Gewinkelter Verbinder 95"/>
          <p:cNvCxnSpPr/>
          <p:nvPr/>
        </p:nvCxnSpPr>
        <p:spPr>
          <a:xfrm rot="16200000" flipH="1">
            <a:off x="3959217" y="5075870"/>
            <a:ext cx="198017" cy="2517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hteck 96"/>
          <p:cNvSpPr/>
          <p:nvPr/>
        </p:nvSpPr>
        <p:spPr>
          <a:xfrm>
            <a:off x="4923470" y="5498747"/>
            <a:ext cx="711901" cy="216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 smtClean="0"/>
              <a:t>pdin</a:t>
            </a:r>
            <a:endParaRPr lang="de-DE" sz="1200" dirty="0"/>
          </a:p>
        </p:txBody>
      </p:sp>
      <p:cxnSp>
        <p:nvCxnSpPr>
          <p:cNvPr id="98" name="Gewinkelter Verbinder 97"/>
          <p:cNvCxnSpPr>
            <a:stCxn id="95" idx="2"/>
            <a:endCxn id="97" idx="1"/>
          </p:cNvCxnSpPr>
          <p:nvPr/>
        </p:nvCxnSpPr>
        <p:spPr>
          <a:xfrm rot="16200000" flipH="1">
            <a:off x="4678965" y="5362241"/>
            <a:ext cx="198017" cy="29099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Gewinkelter Verbinder 99"/>
          <p:cNvCxnSpPr/>
          <p:nvPr/>
        </p:nvCxnSpPr>
        <p:spPr>
          <a:xfrm>
            <a:off x="5307386" y="5709179"/>
            <a:ext cx="327985" cy="181774"/>
          </a:xfrm>
          <a:prstGeom prst="bentConnector3">
            <a:avLst>
              <a:gd name="adj1" fmla="val -31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hteck 103"/>
          <p:cNvSpPr/>
          <p:nvPr/>
        </p:nvSpPr>
        <p:spPr>
          <a:xfrm>
            <a:off x="5609798" y="5764386"/>
            <a:ext cx="711901" cy="21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 smtClean="0"/>
              <a:t>getdata</a:t>
            </a:r>
            <a:endParaRPr lang="de-DE" sz="1200" dirty="0"/>
          </a:p>
        </p:txBody>
      </p:sp>
      <p:sp>
        <p:nvSpPr>
          <p:cNvPr id="107" name="Textfeld 106"/>
          <p:cNvSpPr txBox="1"/>
          <p:nvPr/>
        </p:nvSpPr>
        <p:spPr>
          <a:xfrm>
            <a:off x="6534208" y="5720467"/>
            <a:ext cx="2204450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e-DE" sz="1100" dirty="0" smtClean="0"/>
              <a:t>/</a:t>
            </a:r>
            <a:r>
              <a:rPr lang="de-DE" sz="1100" dirty="0" err="1" smtClean="0"/>
              <a:t>iolinkmaster</a:t>
            </a:r>
            <a:r>
              <a:rPr lang="de-DE" sz="1100" dirty="0" smtClean="0"/>
              <a:t>/</a:t>
            </a:r>
            <a:r>
              <a:rPr lang="de-DE" sz="1100" dirty="0" err="1" smtClean="0"/>
              <a:t>port</a:t>
            </a:r>
            <a:r>
              <a:rPr lang="de-DE" sz="1100" dirty="0" smtClean="0"/>
              <a:t>[2]/</a:t>
            </a:r>
            <a:r>
              <a:rPr lang="de-DE" sz="1100" dirty="0" err="1" smtClean="0"/>
              <a:t>pdin</a:t>
            </a:r>
            <a:r>
              <a:rPr lang="de-DE" sz="1100" dirty="0" smtClean="0"/>
              <a:t>/</a:t>
            </a:r>
            <a:r>
              <a:rPr lang="de-DE" sz="1100" dirty="0" err="1" smtClean="0"/>
              <a:t>getdata</a:t>
            </a:r>
            <a:endParaRPr lang="de-DE" sz="1100" dirty="0"/>
          </a:p>
        </p:txBody>
      </p:sp>
      <p:sp>
        <p:nvSpPr>
          <p:cNvPr id="108" name="Rechteck 107"/>
          <p:cNvSpPr/>
          <p:nvPr/>
        </p:nvSpPr>
        <p:spPr>
          <a:xfrm>
            <a:off x="3599768" y="4854926"/>
            <a:ext cx="632597" cy="220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smtClean="0"/>
              <a:t>Port[2]</a:t>
            </a:r>
            <a:endParaRPr lang="de-DE" sz="1200" dirty="0"/>
          </a:p>
        </p:txBody>
      </p:sp>
      <p:cxnSp>
        <p:nvCxnSpPr>
          <p:cNvPr id="110" name="Gewinkelter Verbinder 109"/>
          <p:cNvCxnSpPr>
            <a:endCxn id="108" idx="1"/>
          </p:cNvCxnSpPr>
          <p:nvPr/>
        </p:nvCxnSpPr>
        <p:spPr>
          <a:xfrm rot="16200000" flipH="1">
            <a:off x="2480041" y="3845221"/>
            <a:ext cx="1754678" cy="4847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Gerader Verbinder 111"/>
          <p:cNvCxnSpPr/>
          <p:nvPr/>
        </p:nvCxnSpPr>
        <p:spPr>
          <a:xfrm>
            <a:off x="2216326" y="3115602"/>
            <a:ext cx="0" cy="1163336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/>
          <p:cNvCxnSpPr/>
          <p:nvPr/>
        </p:nvCxnSpPr>
        <p:spPr>
          <a:xfrm>
            <a:off x="3119345" y="5072948"/>
            <a:ext cx="0" cy="1163336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hteck 113"/>
          <p:cNvSpPr/>
          <p:nvPr/>
        </p:nvSpPr>
        <p:spPr>
          <a:xfrm>
            <a:off x="1313768" y="6288837"/>
            <a:ext cx="78302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this tree structure each element can be addressed by an address build from the tree. </a:t>
            </a:r>
          </a:p>
        </p:txBody>
      </p:sp>
      <p:sp>
        <p:nvSpPr>
          <p:cNvPr id="3" name="Pfeil nach rechts 2"/>
          <p:cNvSpPr/>
          <p:nvPr/>
        </p:nvSpPr>
        <p:spPr>
          <a:xfrm>
            <a:off x="4355470" y="1261565"/>
            <a:ext cx="2146680" cy="746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Pfeil nach rechts 49"/>
          <p:cNvSpPr/>
          <p:nvPr/>
        </p:nvSpPr>
        <p:spPr>
          <a:xfrm>
            <a:off x="4355470" y="1514665"/>
            <a:ext cx="2146680" cy="746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Pfeil nach rechts 50"/>
          <p:cNvSpPr/>
          <p:nvPr/>
        </p:nvSpPr>
        <p:spPr>
          <a:xfrm>
            <a:off x="5165418" y="2597849"/>
            <a:ext cx="1336732" cy="75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Pfeil nach rechts 51"/>
          <p:cNvSpPr/>
          <p:nvPr/>
        </p:nvSpPr>
        <p:spPr>
          <a:xfrm>
            <a:off x="6347271" y="4071484"/>
            <a:ext cx="154879" cy="75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Pfeil nach rechts 52"/>
          <p:cNvSpPr/>
          <p:nvPr/>
        </p:nvSpPr>
        <p:spPr>
          <a:xfrm>
            <a:off x="6347271" y="5831035"/>
            <a:ext cx="154879" cy="75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190" y="1502888"/>
            <a:ext cx="483323" cy="1620000"/>
          </a:xfrm>
          <a:prstGeom prst="rect">
            <a:avLst/>
          </a:prstGeom>
        </p:spPr>
      </p:pic>
      <p:sp>
        <p:nvSpPr>
          <p:cNvPr id="54" name="Textfeld 53"/>
          <p:cNvSpPr txBox="1"/>
          <p:nvPr/>
        </p:nvSpPr>
        <p:spPr>
          <a:xfrm>
            <a:off x="8212142" y="750171"/>
            <a:ext cx="931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Iot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Core</a:t>
            </a:r>
            <a:endParaRPr lang="de-DE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5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1467979" y="1227909"/>
            <a:ext cx="7186493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Example 1</a:t>
            </a:r>
            <a:r>
              <a:rPr lang="en-US" dirty="0" smtClean="0"/>
              <a:t>: Get tree</a:t>
            </a:r>
          </a:p>
          <a:p>
            <a:pPr marL="342900" indent="-342900">
              <a:buAutoNum type="arabicPeriod"/>
            </a:pPr>
            <a:r>
              <a:rPr lang="en-US" dirty="0" smtClean="0"/>
              <a:t>Connect </a:t>
            </a:r>
            <a:r>
              <a:rPr lang="en-US" dirty="0" smtClean="0"/>
              <a:t>the </a:t>
            </a:r>
            <a:r>
              <a:rPr lang="en-US" dirty="0" err="1" smtClean="0"/>
              <a:t>Iot</a:t>
            </a:r>
            <a:r>
              <a:rPr lang="en-US" dirty="0" smtClean="0"/>
              <a:t> port of the </a:t>
            </a:r>
            <a:r>
              <a:rPr lang="en-US" dirty="0" smtClean="0"/>
              <a:t>IO-Link Master to a Laptop/PC</a:t>
            </a:r>
          </a:p>
          <a:p>
            <a:pPr marL="342900" indent="-342900">
              <a:buAutoNum type="arabicPeriod"/>
            </a:pPr>
            <a:r>
              <a:rPr lang="en-US" dirty="0" smtClean="0"/>
              <a:t>Set the IP Address of </a:t>
            </a:r>
            <a:r>
              <a:rPr lang="en-US" dirty="0" err="1" smtClean="0"/>
              <a:t>IoT</a:t>
            </a:r>
            <a:r>
              <a:rPr lang="en-US" dirty="0" smtClean="0"/>
              <a:t> port </a:t>
            </a:r>
            <a:r>
              <a:rPr lang="en-US" dirty="0" err="1" smtClean="0"/>
              <a:t>e.g</a:t>
            </a:r>
            <a:r>
              <a:rPr lang="en-US" dirty="0" smtClean="0"/>
              <a:t> </a:t>
            </a:r>
            <a:r>
              <a:rPr lang="en-US" dirty="0" smtClean="0"/>
              <a:t>192.168.0.10 (same subnet like network card)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/>
              <a:t>Open a </a:t>
            </a:r>
            <a:r>
              <a:rPr lang="en-US" dirty="0" smtClean="0"/>
              <a:t>browser </a:t>
            </a:r>
            <a:r>
              <a:rPr lang="en-US" dirty="0" err="1" smtClean="0"/>
              <a:t>e.g</a:t>
            </a:r>
            <a:r>
              <a:rPr lang="en-US" dirty="0" smtClean="0"/>
              <a:t> Firefox Browser </a:t>
            </a:r>
          </a:p>
          <a:p>
            <a:pPr marL="342900" indent="-342900">
              <a:buFontTx/>
              <a:buAutoNum type="arabicPeriod"/>
            </a:pPr>
            <a:r>
              <a:rPr lang="de-DE" dirty="0" err="1" smtClean="0"/>
              <a:t>install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jsonView</a:t>
            </a:r>
            <a:r>
              <a:rPr lang="de-DE" dirty="0"/>
              <a:t> </a:t>
            </a:r>
            <a:r>
              <a:rPr lang="de-DE" sz="1400" dirty="0" smtClean="0">
                <a:hlinkClick r:id="rId2"/>
              </a:rPr>
              <a:t>https</a:t>
            </a:r>
            <a:r>
              <a:rPr lang="de-DE" sz="1400" dirty="0">
                <a:hlinkClick r:id="rId2"/>
              </a:rPr>
              <a:t>://addons.mozilla.org/de/firefox/addon/jsonview/</a:t>
            </a:r>
            <a:endParaRPr lang="de-DE" sz="1400" dirty="0"/>
          </a:p>
          <a:p>
            <a:pPr marL="342900" indent="-342900">
              <a:buFontTx/>
              <a:buAutoNum type="arabicPeriod"/>
            </a:pPr>
            <a:r>
              <a:rPr lang="en-US" dirty="0" smtClean="0"/>
              <a:t>Enter </a:t>
            </a:r>
            <a:r>
              <a:rPr lang="de-DE" sz="1600" dirty="0" smtClean="0">
                <a:hlinkClick r:id="rId3"/>
              </a:rPr>
              <a:t>http://192.168.0.10/gettree</a:t>
            </a:r>
            <a:endParaRPr lang="de-DE" sz="1600" dirty="0" smtClean="0"/>
          </a:p>
          <a:p>
            <a:pPr marL="342900" indent="-342900">
              <a:buFontTx/>
              <a:buAutoNum type="arabicPeriod"/>
            </a:pPr>
            <a:endParaRPr lang="de-DE" sz="1600" dirty="0"/>
          </a:p>
          <a:p>
            <a:endParaRPr lang="de-DE" sz="1600" dirty="0" smtClean="0"/>
          </a:p>
          <a:p>
            <a:endParaRPr lang="de-DE" dirty="0" smtClean="0"/>
          </a:p>
          <a:p>
            <a:pPr marL="342900" indent="-342900">
              <a:buFontTx/>
              <a:buAutoNum type="arabicPeriod"/>
            </a:pPr>
            <a:endParaRPr lang="de-DE" dirty="0" smtClean="0"/>
          </a:p>
          <a:p>
            <a:pPr marL="342900" indent="-342900">
              <a:buFontTx/>
              <a:buAutoNum type="arabicPeriod"/>
            </a:pPr>
            <a:endParaRPr lang="de-DE" dirty="0" smtClean="0"/>
          </a:p>
          <a:p>
            <a:r>
              <a:rPr lang="de-DE" dirty="0" smtClean="0"/>
              <a:t>             </a:t>
            </a:r>
            <a:endParaRPr lang="de-DE" sz="1600" dirty="0" smtClean="0"/>
          </a:p>
          <a:p>
            <a:endParaRPr lang="de-DE" dirty="0" smtClean="0"/>
          </a:p>
          <a:p>
            <a:pPr marL="342900" indent="-342900">
              <a:buFontTx/>
              <a:buAutoNum type="arabicPeriod"/>
            </a:pPr>
            <a:endParaRPr lang="de-DE" dirty="0"/>
          </a:p>
          <a:p>
            <a:pPr marL="342900" indent="-342900">
              <a:buFontTx/>
              <a:buAutoNum type="arabicPeriod"/>
            </a:pPr>
            <a:endParaRPr lang="de-DE" dirty="0"/>
          </a:p>
          <a:p>
            <a:pPr marL="342900" indent="-342900">
              <a:buAutoNum type="arabicPeriod"/>
            </a:pPr>
            <a:endParaRPr lang="en-US" dirty="0" smtClean="0"/>
          </a:p>
          <a:p>
            <a:pPr marL="342900" indent="-342900">
              <a:buAutoNum type="arabicPeriod"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de-DE" dirty="0"/>
          </a:p>
        </p:txBody>
      </p:sp>
      <p:grpSp>
        <p:nvGrpSpPr>
          <p:cNvPr id="16" name="Gruppieren 15"/>
          <p:cNvGrpSpPr/>
          <p:nvPr/>
        </p:nvGrpSpPr>
        <p:grpSpPr>
          <a:xfrm>
            <a:off x="5468758" y="3787807"/>
            <a:ext cx="2862617" cy="2134023"/>
            <a:chOff x="5878061" y="3317544"/>
            <a:chExt cx="2862617" cy="2134023"/>
          </a:xfrm>
        </p:grpSpPr>
        <p:grpSp>
          <p:nvGrpSpPr>
            <p:cNvPr id="15" name="Gruppieren 14"/>
            <p:cNvGrpSpPr/>
            <p:nvPr/>
          </p:nvGrpSpPr>
          <p:grpSpPr>
            <a:xfrm>
              <a:off x="5878061" y="3420957"/>
              <a:ext cx="2569330" cy="2030610"/>
              <a:chOff x="5790348" y="3368705"/>
              <a:chExt cx="2569330" cy="2030610"/>
            </a:xfrm>
          </p:grpSpPr>
          <p:pic>
            <p:nvPicPr>
              <p:cNvPr id="4" name="Picture 20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90348" y="3368705"/>
                <a:ext cx="1372379" cy="10527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" name="Grafik 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91650" y="3722238"/>
                <a:ext cx="668028" cy="1677077"/>
              </a:xfrm>
              <a:prstGeom prst="rect">
                <a:avLst/>
              </a:prstGeom>
            </p:spPr>
          </p:pic>
          <p:cxnSp>
            <p:nvCxnSpPr>
              <p:cNvPr id="9" name="Gekrümmter Verbinder 8"/>
              <p:cNvCxnSpPr/>
              <p:nvPr/>
            </p:nvCxnSpPr>
            <p:spPr>
              <a:xfrm>
                <a:off x="6987299" y="4116582"/>
                <a:ext cx="856898" cy="63613"/>
              </a:xfrm>
              <a:prstGeom prst="curvedConnector3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feld 9"/>
              <p:cNvSpPr txBox="1"/>
              <p:nvPr/>
            </p:nvSpPr>
            <p:spPr>
              <a:xfrm>
                <a:off x="6199751" y="4345686"/>
                <a:ext cx="90544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 smtClean="0"/>
                  <a:t>Laptop / PC</a:t>
                </a:r>
                <a:endParaRPr lang="de-DE" sz="1200" dirty="0"/>
              </a:p>
            </p:txBody>
          </p:sp>
        </p:grpSp>
        <p:sp>
          <p:nvSpPr>
            <p:cNvPr id="13" name="Textfeld 12"/>
            <p:cNvSpPr txBox="1"/>
            <p:nvPr/>
          </p:nvSpPr>
          <p:spPr>
            <a:xfrm>
              <a:off x="7604020" y="3317544"/>
              <a:ext cx="11366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 smtClean="0"/>
                <a:t>IO-Link Master </a:t>
              </a:r>
            </a:p>
            <a:p>
              <a:r>
                <a:rPr lang="de-DE" sz="1200" dirty="0" err="1" smtClean="0"/>
                <a:t>with</a:t>
              </a:r>
              <a:r>
                <a:rPr lang="de-DE" sz="1200" dirty="0" smtClean="0"/>
                <a:t> </a:t>
              </a:r>
              <a:r>
                <a:rPr lang="de-DE" sz="1200" dirty="0" err="1" smtClean="0"/>
                <a:t>IoT</a:t>
              </a:r>
              <a:r>
                <a:rPr lang="de-DE" sz="1200" dirty="0" smtClean="0"/>
                <a:t> </a:t>
              </a:r>
              <a:r>
                <a:rPr lang="de-DE" sz="1200" dirty="0" err="1" smtClean="0"/>
                <a:t>port</a:t>
              </a:r>
              <a:endParaRPr lang="de-DE" sz="1200" dirty="0"/>
            </a:p>
          </p:txBody>
        </p:sp>
      </p:grpSp>
      <p:pic>
        <p:nvPicPr>
          <p:cNvPr id="18" name="Grafik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7980" y="3352827"/>
            <a:ext cx="3047238" cy="3348419"/>
          </a:xfrm>
          <a:prstGeom prst="rect">
            <a:avLst/>
          </a:prstGeom>
        </p:spPr>
      </p:pic>
      <p:sp>
        <p:nvSpPr>
          <p:cNvPr id="11" name="Textfeld 10"/>
          <p:cNvSpPr txBox="1"/>
          <p:nvPr/>
        </p:nvSpPr>
        <p:spPr>
          <a:xfrm>
            <a:off x="7103394" y="693086"/>
            <a:ext cx="2037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Example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1: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Get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tree</a:t>
            </a:r>
            <a:endParaRPr lang="de-DE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18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236617" y="1291184"/>
            <a:ext cx="5232629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 smtClean="0">
                <a:solidFill>
                  <a:schemeClr val="accent2">
                    <a:lumMod val="75000"/>
                  </a:schemeClr>
                </a:solidFill>
              </a:rPr>
              <a:t>Example</a:t>
            </a:r>
            <a:r>
              <a:rPr lang="de-DE" dirty="0" smtClean="0">
                <a:solidFill>
                  <a:schemeClr val="accent2">
                    <a:lumMod val="75000"/>
                  </a:schemeClr>
                </a:solidFill>
              </a:rPr>
              <a:t> 2: </a:t>
            </a:r>
          </a:p>
          <a:p>
            <a:endParaRPr lang="de-DE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de-DE" sz="1600" dirty="0" err="1"/>
              <a:t>G</a:t>
            </a:r>
            <a:r>
              <a:rPr lang="de-DE" sz="1600" dirty="0" err="1" smtClean="0"/>
              <a:t>et</a:t>
            </a:r>
            <a:r>
              <a:rPr lang="de-DE" sz="1600" dirty="0" smtClean="0"/>
              <a:t> </a:t>
            </a:r>
            <a:r>
              <a:rPr lang="de-DE" sz="1600" dirty="0" err="1" smtClean="0"/>
              <a:t>the</a:t>
            </a:r>
            <a:r>
              <a:rPr lang="de-DE" sz="1600" dirty="0" smtClean="0"/>
              <a:t> </a:t>
            </a:r>
            <a:r>
              <a:rPr lang="de-DE" sz="1600" dirty="0" err="1" smtClean="0"/>
              <a:t>input</a:t>
            </a:r>
            <a:r>
              <a:rPr lang="de-DE" sz="1600" dirty="0" smtClean="0"/>
              <a:t> </a:t>
            </a:r>
            <a:r>
              <a:rPr lang="de-DE" sz="1600" dirty="0" err="1" smtClean="0"/>
              <a:t>process</a:t>
            </a:r>
            <a:r>
              <a:rPr lang="de-DE" sz="1600" dirty="0" smtClean="0"/>
              <a:t> </a:t>
            </a:r>
            <a:r>
              <a:rPr lang="de-DE" sz="1600" dirty="0" err="1" smtClean="0"/>
              <a:t>data</a:t>
            </a:r>
            <a:r>
              <a:rPr lang="de-DE" sz="1600" dirty="0" smtClean="0"/>
              <a:t> </a:t>
            </a:r>
            <a:r>
              <a:rPr lang="de-DE" sz="1600" dirty="0" err="1" smtClean="0"/>
              <a:t>of</a:t>
            </a:r>
            <a:r>
              <a:rPr lang="de-DE" sz="1600" dirty="0" smtClean="0"/>
              <a:t> a </a:t>
            </a:r>
            <a:r>
              <a:rPr lang="de-DE" sz="1600" dirty="0" err="1" smtClean="0"/>
              <a:t>connected</a:t>
            </a:r>
            <a:r>
              <a:rPr lang="de-DE" sz="1600" dirty="0" smtClean="0"/>
              <a:t> </a:t>
            </a:r>
            <a:r>
              <a:rPr lang="de-DE" sz="1600" dirty="0" err="1" smtClean="0"/>
              <a:t>device</a:t>
            </a:r>
            <a:r>
              <a:rPr lang="de-DE" sz="1600" dirty="0" smtClean="0"/>
              <a:t> on </a:t>
            </a:r>
            <a:r>
              <a:rPr lang="de-DE" sz="1600" dirty="0" err="1" smtClean="0"/>
              <a:t>port</a:t>
            </a:r>
            <a:r>
              <a:rPr lang="de-DE" sz="1600" dirty="0" smtClean="0"/>
              <a:t> 1.</a:t>
            </a:r>
            <a:br>
              <a:rPr lang="de-DE" sz="1600" dirty="0" smtClean="0"/>
            </a:br>
            <a:endParaRPr lang="de-DE" sz="1600" dirty="0" smtClean="0"/>
          </a:p>
          <a:p>
            <a:endParaRPr lang="de-DE" sz="1600" dirty="0" smtClean="0"/>
          </a:p>
          <a:p>
            <a:pPr marL="800100" lvl="1" indent="-342900">
              <a:buAutoNum type="arabicPeriod"/>
            </a:pPr>
            <a:r>
              <a:rPr lang="de-DE" sz="1600" dirty="0" smtClean="0"/>
              <a:t>Connect an IO-Link </a:t>
            </a:r>
            <a:r>
              <a:rPr lang="de-DE" sz="1600" dirty="0" err="1" smtClean="0"/>
              <a:t>device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</a:t>
            </a:r>
            <a:r>
              <a:rPr lang="de-DE" sz="1600" dirty="0" err="1" smtClean="0"/>
              <a:t>port</a:t>
            </a:r>
            <a:r>
              <a:rPr lang="de-DE" sz="1600" dirty="0" smtClean="0"/>
              <a:t> </a:t>
            </a:r>
            <a:r>
              <a:rPr lang="de-DE" sz="1600" dirty="0" smtClean="0"/>
              <a:t>1</a:t>
            </a:r>
          </a:p>
          <a:p>
            <a:pPr lvl="1"/>
            <a:r>
              <a:rPr lang="de-DE" sz="1600" dirty="0" smtClean="0"/>
              <a:t>       (</a:t>
            </a:r>
            <a:r>
              <a:rPr lang="de-DE" sz="1600" dirty="0" err="1" smtClean="0"/>
              <a:t>e.g</a:t>
            </a:r>
            <a:r>
              <a:rPr lang="de-DE" sz="1600" dirty="0" smtClean="0"/>
              <a:t> </a:t>
            </a:r>
            <a:r>
              <a:rPr lang="de-DE" sz="1600" dirty="0" err="1"/>
              <a:t>Photoelectric</a:t>
            </a:r>
            <a:r>
              <a:rPr lang="de-DE" sz="1600" dirty="0"/>
              <a:t> </a:t>
            </a:r>
            <a:r>
              <a:rPr lang="de-DE" sz="1600" dirty="0" err="1"/>
              <a:t>distance</a:t>
            </a:r>
            <a:r>
              <a:rPr lang="de-DE" sz="1600" dirty="0"/>
              <a:t> </a:t>
            </a:r>
            <a:r>
              <a:rPr lang="de-DE" sz="1600" dirty="0" err="1"/>
              <a:t>sensor</a:t>
            </a:r>
            <a:r>
              <a:rPr lang="de-DE" sz="1600" dirty="0"/>
              <a:t>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ifm</a:t>
            </a:r>
            <a:r>
              <a:rPr lang="de-DE" sz="1600" dirty="0"/>
              <a:t> </a:t>
            </a:r>
            <a:r>
              <a:rPr lang="de-DE" sz="1600" dirty="0" smtClean="0"/>
              <a:t>O5D150)</a:t>
            </a:r>
            <a:r>
              <a:rPr lang="de-DE" sz="1600" dirty="0" smtClean="0"/>
              <a:t/>
            </a:r>
            <a:br>
              <a:rPr lang="de-DE" sz="1600" dirty="0" smtClean="0"/>
            </a:br>
            <a:r>
              <a:rPr lang="de-DE" sz="1600" dirty="0" smtClean="0"/>
              <a:t/>
            </a:r>
            <a:br>
              <a:rPr lang="de-DE" sz="1600" dirty="0" smtClean="0"/>
            </a:br>
            <a:endParaRPr lang="de-DE" sz="1600" dirty="0" smtClean="0"/>
          </a:p>
          <a:p>
            <a:pPr marL="800100" lvl="1" indent="-342900">
              <a:buAutoNum type="arabicPeriod"/>
            </a:pPr>
            <a:endParaRPr lang="de-DE" sz="1600" dirty="0"/>
          </a:p>
          <a:p>
            <a:pPr marL="800100" lvl="1" indent="-342900">
              <a:buAutoNum type="arabicPeriod"/>
            </a:pPr>
            <a:r>
              <a:rPr lang="de-DE" sz="1600" dirty="0" err="1" smtClean="0"/>
              <a:t>With</a:t>
            </a:r>
            <a:r>
              <a:rPr lang="de-DE" sz="1600" dirty="0" smtClean="0"/>
              <a:t> </a:t>
            </a:r>
            <a:r>
              <a:rPr lang="de-DE" sz="1600" dirty="0" err="1" smtClean="0"/>
              <a:t>help</a:t>
            </a:r>
            <a:r>
              <a:rPr lang="de-DE" sz="1600" dirty="0" smtClean="0"/>
              <a:t> </a:t>
            </a:r>
            <a:r>
              <a:rPr lang="de-DE" sz="1600" dirty="0" err="1" smtClean="0"/>
              <a:t>of</a:t>
            </a:r>
            <a:r>
              <a:rPr lang="de-DE" sz="1600" dirty="0" smtClean="0"/>
              <a:t> </a:t>
            </a:r>
            <a:r>
              <a:rPr lang="de-DE" sz="1600" dirty="0" err="1" smtClean="0"/>
              <a:t>gettree</a:t>
            </a:r>
            <a:r>
              <a:rPr lang="de-DE" sz="1600" dirty="0" smtClean="0"/>
              <a:t> </a:t>
            </a:r>
            <a:r>
              <a:rPr lang="de-DE" sz="1600" dirty="0" err="1" smtClean="0"/>
              <a:t>shown</a:t>
            </a:r>
            <a:r>
              <a:rPr lang="de-DE" sz="1600" dirty="0" smtClean="0"/>
              <a:t> in </a:t>
            </a:r>
            <a:r>
              <a:rPr lang="de-DE" sz="1600" dirty="0" err="1" smtClean="0"/>
              <a:t>Example</a:t>
            </a:r>
            <a:r>
              <a:rPr lang="de-DE" sz="1600" dirty="0" smtClean="0"/>
              <a:t> 1 </a:t>
            </a:r>
            <a:r>
              <a:rPr lang="de-DE" sz="1600" dirty="0" err="1" smtClean="0"/>
              <a:t>build</a:t>
            </a:r>
            <a:r>
              <a:rPr lang="de-DE" sz="1600" dirty="0" smtClean="0"/>
              <a:t> </a:t>
            </a:r>
            <a:r>
              <a:rPr lang="de-DE" sz="1600" dirty="0" err="1" smtClean="0"/>
              <a:t>the</a:t>
            </a:r>
            <a:r>
              <a:rPr lang="de-DE" sz="1600" dirty="0" smtClean="0"/>
              <a:t> </a:t>
            </a:r>
            <a:r>
              <a:rPr lang="de-DE" sz="1600" dirty="0" err="1"/>
              <a:t>address</a:t>
            </a:r>
            <a:r>
              <a:rPr lang="de-DE" sz="1600" dirty="0"/>
              <a:t>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data</a:t>
            </a:r>
            <a:r>
              <a:rPr lang="de-DE" sz="1600" dirty="0"/>
              <a:t>:</a:t>
            </a:r>
          </a:p>
          <a:p>
            <a:r>
              <a:rPr lang="de-DE" sz="1400" dirty="0"/>
              <a:t>       </a:t>
            </a:r>
            <a:r>
              <a:rPr lang="de-DE" sz="1600" b="1" dirty="0" smtClean="0">
                <a:solidFill>
                  <a:srgbClr val="FF0000"/>
                </a:solidFill>
              </a:rPr>
              <a:t>/</a:t>
            </a:r>
            <a:r>
              <a:rPr lang="de-DE" sz="1600" b="1" dirty="0" err="1" smtClean="0">
                <a:solidFill>
                  <a:srgbClr val="FF0000"/>
                </a:solidFill>
              </a:rPr>
              <a:t>iolinkmaster</a:t>
            </a:r>
            <a:r>
              <a:rPr lang="de-DE" sz="1400" b="1" dirty="0" smtClean="0">
                <a:solidFill>
                  <a:srgbClr val="00B050"/>
                </a:solidFill>
              </a:rPr>
              <a:t>/</a:t>
            </a:r>
            <a:r>
              <a:rPr lang="de-DE" sz="1400" b="1" dirty="0" err="1" smtClean="0">
                <a:solidFill>
                  <a:srgbClr val="00B050"/>
                </a:solidFill>
              </a:rPr>
              <a:t>port</a:t>
            </a:r>
            <a:r>
              <a:rPr lang="de-DE" sz="1400" b="1" dirty="0" smtClean="0">
                <a:solidFill>
                  <a:srgbClr val="00B050"/>
                </a:solidFill>
              </a:rPr>
              <a:t>[1]</a:t>
            </a:r>
            <a:r>
              <a:rPr lang="de-DE" sz="1400" b="1" dirty="0" smtClean="0">
                <a:solidFill>
                  <a:srgbClr val="00B0F0"/>
                </a:solidFill>
              </a:rPr>
              <a:t>/</a:t>
            </a:r>
            <a:r>
              <a:rPr lang="de-DE" sz="1400" b="1" dirty="0" err="1" smtClean="0">
                <a:solidFill>
                  <a:srgbClr val="00B0F0"/>
                </a:solidFill>
              </a:rPr>
              <a:t>iolinkdevice</a:t>
            </a:r>
            <a:r>
              <a:rPr lang="de-DE" sz="1400" b="1" dirty="0" smtClean="0">
                <a:solidFill>
                  <a:srgbClr val="0070C0"/>
                </a:solidFill>
              </a:rPr>
              <a:t>/</a:t>
            </a:r>
            <a:r>
              <a:rPr lang="de-DE" sz="1400" b="1" dirty="0" err="1" smtClean="0">
                <a:solidFill>
                  <a:srgbClr val="0070C0"/>
                </a:solidFill>
              </a:rPr>
              <a:t>pdin</a:t>
            </a:r>
            <a:r>
              <a:rPr lang="de-DE" sz="1400" b="1" dirty="0" smtClean="0">
                <a:solidFill>
                  <a:srgbClr val="FFC000"/>
                </a:solidFill>
              </a:rPr>
              <a:t>/</a:t>
            </a:r>
            <a:r>
              <a:rPr lang="de-DE" sz="1400" b="1" dirty="0" err="1" smtClean="0">
                <a:solidFill>
                  <a:srgbClr val="FFC000"/>
                </a:solidFill>
              </a:rPr>
              <a:t>getdata</a:t>
            </a:r>
            <a:endParaRPr lang="de-DE" sz="1400" b="1" dirty="0" smtClean="0">
              <a:solidFill>
                <a:srgbClr val="FFC000"/>
              </a:solidFill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247" y="1291184"/>
            <a:ext cx="2434590" cy="5410962"/>
          </a:xfrm>
          <a:prstGeom prst="rect">
            <a:avLst/>
          </a:prstGeom>
        </p:spPr>
      </p:pic>
      <p:sp>
        <p:nvSpPr>
          <p:cNvPr id="5" name="Abgerundetes Rechteck 4"/>
          <p:cNvSpPr/>
          <p:nvPr/>
        </p:nvSpPr>
        <p:spPr>
          <a:xfrm>
            <a:off x="8159931" y="1369561"/>
            <a:ext cx="743906" cy="128313"/>
          </a:xfrm>
          <a:prstGeom prst="round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Abgerundetes Rechteck 5"/>
          <p:cNvSpPr/>
          <p:nvPr/>
        </p:nvSpPr>
        <p:spPr>
          <a:xfrm>
            <a:off x="8159931" y="2411967"/>
            <a:ext cx="743906" cy="128313"/>
          </a:xfrm>
          <a:prstGeom prst="roundRect">
            <a:avLst/>
          </a:prstGeom>
          <a:noFill/>
          <a:ln w="349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Abgerundetes Rechteck 6"/>
          <p:cNvSpPr/>
          <p:nvPr/>
        </p:nvSpPr>
        <p:spPr>
          <a:xfrm>
            <a:off x="8159931" y="4492899"/>
            <a:ext cx="743906" cy="128313"/>
          </a:xfrm>
          <a:prstGeom prst="roundRect">
            <a:avLst/>
          </a:prstGeom>
          <a:noFill/>
          <a:ln w="3492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Abgerundetes Rechteck 7"/>
          <p:cNvSpPr/>
          <p:nvPr/>
        </p:nvSpPr>
        <p:spPr>
          <a:xfrm>
            <a:off x="8159931" y="5667241"/>
            <a:ext cx="743906" cy="128313"/>
          </a:xfrm>
          <a:prstGeom prst="roundRect">
            <a:avLst/>
          </a:prstGeom>
          <a:noFill/>
          <a:ln w="349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Abgerundetes Rechteck 8"/>
          <p:cNvSpPr/>
          <p:nvPr/>
        </p:nvSpPr>
        <p:spPr>
          <a:xfrm>
            <a:off x="8159931" y="6446675"/>
            <a:ext cx="743906" cy="128313"/>
          </a:xfrm>
          <a:prstGeom prst="roundRect">
            <a:avLst/>
          </a:prstGeom>
          <a:noFill/>
          <a:ln w="349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 Verbindung mit Pfeil 10"/>
          <p:cNvCxnSpPr/>
          <p:nvPr/>
        </p:nvCxnSpPr>
        <p:spPr>
          <a:xfrm>
            <a:off x="7454537" y="1433716"/>
            <a:ext cx="592183" cy="1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winkelter Verbinder 12"/>
          <p:cNvCxnSpPr>
            <a:endCxn id="6" idx="1"/>
          </p:cNvCxnSpPr>
          <p:nvPr/>
        </p:nvCxnSpPr>
        <p:spPr>
          <a:xfrm rot="16200000" flipH="1">
            <a:off x="7364408" y="1680600"/>
            <a:ext cx="1042407" cy="548640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winkelter Verbinder 16"/>
          <p:cNvCxnSpPr/>
          <p:nvPr/>
        </p:nvCxnSpPr>
        <p:spPr>
          <a:xfrm rot="16200000" flipH="1">
            <a:off x="6930787" y="3327914"/>
            <a:ext cx="2048984" cy="409301"/>
          </a:xfrm>
          <a:prstGeom prst="bentConnector3">
            <a:avLst>
              <a:gd name="adj1" fmla="val 100152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winkelter Verbinder 21"/>
          <p:cNvCxnSpPr/>
          <p:nvPr/>
        </p:nvCxnSpPr>
        <p:spPr>
          <a:xfrm rot="16200000" flipH="1">
            <a:off x="7435599" y="5007066"/>
            <a:ext cx="1174344" cy="274321"/>
          </a:xfrm>
          <a:prstGeom prst="bentConnector3">
            <a:avLst>
              <a:gd name="adj1" fmla="val 99685"/>
            </a:avLst>
          </a:prstGeom>
          <a:ln w="222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winkelter Verbinder 26"/>
          <p:cNvCxnSpPr/>
          <p:nvPr/>
        </p:nvCxnSpPr>
        <p:spPr>
          <a:xfrm rot="16200000" flipH="1">
            <a:off x="7668467" y="6018212"/>
            <a:ext cx="778277" cy="204649"/>
          </a:xfrm>
          <a:prstGeom prst="bentConnector3">
            <a:avLst>
              <a:gd name="adj1" fmla="val 99234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/>
          <p:cNvSpPr txBox="1"/>
          <p:nvPr/>
        </p:nvSpPr>
        <p:spPr>
          <a:xfrm>
            <a:off x="5764122" y="702322"/>
            <a:ext cx="3381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Example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2: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Get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input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process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data</a:t>
            </a:r>
            <a:endParaRPr lang="de-DE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704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1554479" y="1273353"/>
            <a:ext cx="721505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de-DE" sz="1600" dirty="0"/>
          </a:p>
          <a:p>
            <a:r>
              <a:rPr lang="de-DE" sz="1600" dirty="0"/>
              <a:t>3. Enter in Browser </a:t>
            </a:r>
          </a:p>
          <a:p>
            <a:r>
              <a:rPr lang="de-DE" sz="1600" dirty="0">
                <a:hlinkClick r:id="rId2"/>
              </a:rPr>
              <a:t>http://192.168.0.10/iolinkmaster/port[1]/iolinkdevice/pdin/getdata</a:t>
            </a:r>
            <a:endParaRPr lang="de-DE" sz="1600" dirty="0"/>
          </a:p>
          <a:p>
            <a:endParaRPr lang="de-DE" sz="1600" dirty="0"/>
          </a:p>
          <a:p>
            <a:r>
              <a:rPr lang="de-DE" sz="1600" dirty="0"/>
              <a:t>Return Value (</a:t>
            </a:r>
            <a:r>
              <a:rPr lang="de-DE" sz="1600" dirty="0" err="1"/>
              <a:t>e.g</a:t>
            </a:r>
            <a:r>
              <a:rPr lang="de-DE" sz="1600" dirty="0"/>
              <a:t> </a:t>
            </a:r>
            <a:r>
              <a:rPr lang="de-DE" sz="1600" dirty="0" err="1"/>
              <a:t>Photoelectric</a:t>
            </a:r>
            <a:r>
              <a:rPr lang="de-DE" sz="1600" dirty="0"/>
              <a:t> </a:t>
            </a:r>
            <a:r>
              <a:rPr lang="de-DE" sz="1600" dirty="0" err="1"/>
              <a:t>distance</a:t>
            </a:r>
            <a:r>
              <a:rPr lang="de-DE" sz="1600" dirty="0"/>
              <a:t> </a:t>
            </a:r>
            <a:r>
              <a:rPr lang="de-DE" sz="1600" dirty="0" err="1"/>
              <a:t>sensor</a:t>
            </a:r>
            <a:r>
              <a:rPr lang="de-DE" sz="1600" dirty="0"/>
              <a:t>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ifm</a:t>
            </a:r>
            <a:r>
              <a:rPr lang="de-DE" sz="1600" dirty="0"/>
              <a:t> O5D150):</a:t>
            </a:r>
          </a:p>
          <a:p>
            <a:endParaRPr lang="de-DE" sz="1600" dirty="0"/>
          </a:p>
          <a:p>
            <a:endParaRPr lang="en-US" sz="16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1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307" y="3113316"/>
            <a:ext cx="5328000" cy="1878566"/>
          </a:xfrm>
          <a:prstGeom prst="rect">
            <a:avLst/>
          </a:prstGeom>
        </p:spPr>
      </p:pic>
      <p:sp>
        <p:nvSpPr>
          <p:cNvPr id="5" name="Abgerundetes Rechteck 4"/>
          <p:cNvSpPr/>
          <p:nvPr/>
        </p:nvSpPr>
        <p:spPr>
          <a:xfrm>
            <a:off x="2000688" y="4640544"/>
            <a:ext cx="535709" cy="15216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/>
          <p:cNvSpPr txBox="1"/>
          <p:nvPr/>
        </p:nvSpPr>
        <p:spPr>
          <a:xfrm>
            <a:off x="3192177" y="4512904"/>
            <a:ext cx="2336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 smtClean="0">
                <a:solidFill>
                  <a:schemeClr val="accent1">
                    <a:lumMod val="75000"/>
                  </a:schemeClr>
                </a:solidFill>
              </a:rPr>
              <a:t>Process</a:t>
            </a:r>
            <a:r>
              <a:rPr lang="de-DE" sz="1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1200" dirty="0" err="1" smtClean="0">
                <a:solidFill>
                  <a:schemeClr val="accent1">
                    <a:lumMod val="75000"/>
                  </a:schemeClr>
                </a:solidFill>
              </a:rPr>
              <a:t>data</a:t>
            </a:r>
            <a:r>
              <a:rPr lang="de-DE" sz="1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1200" dirty="0" err="1" smtClean="0">
                <a:solidFill>
                  <a:schemeClr val="accent1">
                    <a:lumMod val="75000"/>
                  </a:schemeClr>
                </a:solidFill>
              </a:rPr>
              <a:t>encoding</a:t>
            </a:r>
            <a:r>
              <a:rPr lang="de-DE" sz="1200" dirty="0" smtClean="0">
                <a:solidFill>
                  <a:schemeClr val="accent1">
                    <a:lumMod val="75000"/>
                  </a:schemeClr>
                </a:solidFill>
              </a:rPr>
              <a:t> in </a:t>
            </a:r>
            <a:r>
              <a:rPr lang="de-DE" sz="1200" dirty="0" err="1" smtClean="0">
                <a:solidFill>
                  <a:schemeClr val="accent1">
                    <a:lumMod val="75000"/>
                  </a:schemeClr>
                </a:solidFill>
              </a:rPr>
              <a:t>hexstring</a:t>
            </a:r>
            <a:endParaRPr lang="de-DE" sz="12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de-DE" sz="1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1200" dirty="0" err="1" smtClean="0">
                <a:solidFill>
                  <a:schemeClr val="accent1">
                    <a:lumMod val="75000"/>
                  </a:schemeClr>
                </a:solidFill>
              </a:rPr>
              <a:t>from</a:t>
            </a:r>
            <a:r>
              <a:rPr lang="de-DE" sz="1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1200" dirty="0" err="1" smtClean="0">
                <a:solidFill>
                  <a:schemeClr val="accent1">
                    <a:lumMod val="75000"/>
                  </a:schemeClr>
                </a:solidFill>
              </a:rPr>
              <a:t>connected</a:t>
            </a:r>
            <a:r>
              <a:rPr lang="de-DE" sz="1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1200" dirty="0" err="1" smtClean="0">
                <a:solidFill>
                  <a:schemeClr val="accent1">
                    <a:lumMod val="75000"/>
                  </a:schemeClr>
                </a:solidFill>
              </a:rPr>
              <a:t>device</a:t>
            </a:r>
            <a:r>
              <a:rPr lang="de-DE" sz="1200" dirty="0" smtClean="0">
                <a:solidFill>
                  <a:schemeClr val="accent1">
                    <a:lumMod val="75000"/>
                  </a:schemeClr>
                </a:solidFill>
              </a:rPr>
              <a:t> on </a:t>
            </a:r>
            <a:r>
              <a:rPr lang="de-DE" sz="1200" dirty="0" err="1" smtClean="0">
                <a:solidFill>
                  <a:schemeClr val="accent1">
                    <a:lumMod val="75000"/>
                  </a:schemeClr>
                </a:solidFill>
              </a:rPr>
              <a:t>port</a:t>
            </a:r>
            <a:r>
              <a:rPr lang="de-DE" sz="1200" dirty="0" smtClean="0">
                <a:solidFill>
                  <a:schemeClr val="accent1">
                    <a:lumMod val="75000"/>
                  </a:schemeClr>
                </a:solidFill>
              </a:rPr>
              <a:t> 1</a:t>
            </a:r>
            <a:endParaRPr lang="de-DE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7" name="Gerade Verbindung mit Pfeil 6"/>
          <p:cNvCxnSpPr/>
          <p:nvPr/>
        </p:nvCxnSpPr>
        <p:spPr>
          <a:xfrm flipH="1">
            <a:off x="2637997" y="4688274"/>
            <a:ext cx="554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bgerundetes Rechteck 7"/>
          <p:cNvSpPr/>
          <p:nvPr/>
        </p:nvSpPr>
        <p:spPr>
          <a:xfrm>
            <a:off x="3241549" y="4566201"/>
            <a:ext cx="2237986" cy="40836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227" y="2728240"/>
            <a:ext cx="2657475" cy="3848100"/>
          </a:xfrm>
          <a:prstGeom prst="rect">
            <a:avLst/>
          </a:prstGeom>
        </p:spPr>
      </p:pic>
      <p:sp>
        <p:nvSpPr>
          <p:cNvPr id="10" name="Rechteck 9"/>
          <p:cNvSpPr/>
          <p:nvPr/>
        </p:nvSpPr>
        <p:spPr>
          <a:xfrm>
            <a:off x="6936509" y="5624945"/>
            <a:ext cx="1921164" cy="19396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" name="Gerade Verbindung mit Pfeil 11"/>
          <p:cNvCxnSpPr/>
          <p:nvPr/>
        </p:nvCxnSpPr>
        <p:spPr>
          <a:xfrm flipH="1" flipV="1">
            <a:off x="5384800" y="4743736"/>
            <a:ext cx="1551709" cy="88120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/>
          <p:cNvSpPr txBox="1"/>
          <p:nvPr/>
        </p:nvSpPr>
        <p:spPr>
          <a:xfrm>
            <a:off x="5764122" y="693086"/>
            <a:ext cx="3381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Example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2: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Get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input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process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data</a:t>
            </a:r>
            <a:endParaRPr lang="de-DE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24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1639454" y="1529731"/>
            <a:ext cx="730134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4. To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interpret the input process data from a connected IO-Link device </a:t>
            </a:r>
          </a:p>
          <a:p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use the “IO Device Description pdf.”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a. For </a:t>
            </a:r>
            <a:r>
              <a:rPr lang="en-US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ifm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devices go to the </a:t>
            </a:r>
            <a:r>
              <a:rPr lang="en-US" sz="1600" dirty="0" err="1">
                <a:solidFill>
                  <a:srgbClr val="000000"/>
                </a:solidFill>
                <a:latin typeface="Calibri" panose="020F0502020204030204" pitchFamily="34" charset="0"/>
                <a:hlinkClick r:id="rId2"/>
              </a:rPr>
              <a:t>ifm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hlinkClick r:id="rId2"/>
              </a:rPr>
              <a:t> global website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/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b. Text search the IO-Link device’s article number and click </a:t>
            </a:r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the                button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c. Click the </a:t>
            </a:r>
            <a:r>
              <a:rPr lang="en-US" sz="1600" dirty="0">
                <a:solidFill>
                  <a:srgbClr val="00B050"/>
                </a:solidFill>
                <a:latin typeface="Calibri" panose="020F0502020204030204" pitchFamily="34" charset="0"/>
              </a:rPr>
              <a:t>article number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in the search results to go to the datasheet. </a:t>
            </a:r>
            <a:endParaRPr lang="de-DE" sz="160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134" y="2307271"/>
            <a:ext cx="756000" cy="312485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3998" y="3489738"/>
            <a:ext cx="6696000" cy="2966328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1430877" y="3017565"/>
            <a:ext cx="1486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 smtClean="0"/>
              <a:t>Example</a:t>
            </a:r>
            <a:r>
              <a:rPr lang="de-DE" sz="1400" dirty="0" smtClean="0"/>
              <a:t>: O5D150</a:t>
            </a:r>
            <a:endParaRPr lang="de-DE" sz="1400" dirty="0"/>
          </a:p>
        </p:txBody>
      </p:sp>
      <p:sp>
        <p:nvSpPr>
          <p:cNvPr id="6" name="Textfeld 5"/>
          <p:cNvSpPr txBox="1"/>
          <p:nvPr/>
        </p:nvSpPr>
        <p:spPr>
          <a:xfrm>
            <a:off x="5764122" y="693086"/>
            <a:ext cx="3381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Example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2: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Get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input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process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data</a:t>
            </a:r>
            <a:endParaRPr lang="de-DE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834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708727" y="1671782"/>
            <a:ext cx="3817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d. </a:t>
            </a:r>
            <a:r>
              <a:rPr lang="de-DE" dirty="0" err="1" smtClean="0"/>
              <a:t>From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datasheet</a:t>
            </a:r>
            <a:r>
              <a:rPr lang="de-DE" dirty="0" smtClean="0"/>
              <a:t> </a:t>
            </a:r>
            <a:r>
              <a:rPr lang="de-DE" dirty="0" err="1" smtClean="0"/>
              <a:t>click</a:t>
            </a:r>
            <a:r>
              <a:rPr lang="de-DE" dirty="0" smtClean="0"/>
              <a:t> </a:t>
            </a:r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Downloads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1708727" y="4553527"/>
            <a:ext cx="7448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e. Scroll down </a:t>
            </a:r>
            <a:r>
              <a:rPr lang="de-DE" dirty="0" err="1" smtClean="0"/>
              <a:t>through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downloads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find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IO Device Description PDF 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507" y="2123347"/>
            <a:ext cx="5040457" cy="2347947"/>
          </a:xfrm>
          <a:prstGeom prst="rect">
            <a:avLst/>
          </a:prstGeom>
        </p:spPr>
      </p:pic>
      <p:sp>
        <p:nvSpPr>
          <p:cNvPr id="5" name="Abgerundetes Rechteck 4"/>
          <p:cNvSpPr/>
          <p:nvPr/>
        </p:nvSpPr>
        <p:spPr>
          <a:xfrm>
            <a:off x="4137891" y="4267200"/>
            <a:ext cx="655782" cy="286327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657" y="4922859"/>
            <a:ext cx="5895341" cy="1800000"/>
          </a:xfrm>
          <a:prstGeom prst="rect">
            <a:avLst/>
          </a:prstGeom>
        </p:spPr>
      </p:pic>
      <p:sp>
        <p:nvSpPr>
          <p:cNvPr id="7" name="Abgerundetes Rechteck 6"/>
          <p:cNvSpPr/>
          <p:nvPr/>
        </p:nvSpPr>
        <p:spPr>
          <a:xfrm>
            <a:off x="2198255" y="6206836"/>
            <a:ext cx="1588654" cy="332509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/>
          <p:cNvSpPr txBox="1"/>
          <p:nvPr/>
        </p:nvSpPr>
        <p:spPr>
          <a:xfrm>
            <a:off x="5764122" y="693086"/>
            <a:ext cx="3381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Example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2: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Get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input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process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data</a:t>
            </a:r>
            <a:endParaRPr lang="de-DE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363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1316181" y="1230945"/>
            <a:ext cx="767080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5</a:t>
            </a:r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View the IO Device Description pdf file. The cyclic data from the device is shown: </a:t>
            </a:r>
          </a:p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Input Process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Data, units of measure and gradient. </a:t>
            </a:r>
            <a:endParaRPr lang="de-D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207" y="1988437"/>
            <a:ext cx="7560000" cy="2098635"/>
          </a:xfrm>
          <a:prstGeom prst="rect">
            <a:avLst/>
          </a:prstGeom>
        </p:spPr>
      </p:pic>
      <p:sp>
        <p:nvSpPr>
          <p:cNvPr id="4" name="Abgerundetes Rechteck 3"/>
          <p:cNvSpPr/>
          <p:nvPr/>
        </p:nvSpPr>
        <p:spPr>
          <a:xfrm>
            <a:off x="7823200" y="2161309"/>
            <a:ext cx="1163782" cy="42487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Abgerundetes Rechteck 4"/>
          <p:cNvSpPr/>
          <p:nvPr/>
        </p:nvSpPr>
        <p:spPr>
          <a:xfrm>
            <a:off x="3084945" y="3491345"/>
            <a:ext cx="4738255" cy="674255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207" y="4323484"/>
            <a:ext cx="1819275" cy="1771650"/>
          </a:xfrm>
          <a:prstGeom prst="rect">
            <a:avLst/>
          </a:prstGeom>
        </p:spPr>
      </p:pic>
      <p:cxnSp>
        <p:nvCxnSpPr>
          <p:cNvPr id="9" name="Gerade Verbindung mit Pfeil 8"/>
          <p:cNvCxnSpPr/>
          <p:nvPr/>
        </p:nvCxnSpPr>
        <p:spPr>
          <a:xfrm flipV="1">
            <a:off x="2606227" y="5696851"/>
            <a:ext cx="1348509" cy="923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/>
          <p:cNvSpPr txBox="1"/>
          <p:nvPr/>
        </p:nvSpPr>
        <p:spPr>
          <a:xfrm>
            <a:off x="3954736" y="5416288"/>
            <a:ext cx="2780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 smtClean="0">
                <a:solidFill>
                  <a:schemeClr val="accent1">
                    <a:lumMod val="75000"/>
                  </a:schemeClr>
                </a:solidFill>
              </a:rPr>
              <a:t>Convert</a:t>
            </a:r>
            <a:r>
              <a:rPr lang="de-DE" sz="1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1200" dirty="0" err="1" smtClean="0">
                <a:solidFill>
                  <a:schemeClr val="accent1">
                    <a:lumMod val="75000"/>
                  </a:schemeClr>
                </a:solidFill>
              </a:rPr>
              <a:t>the</a:t>
            </a:r>
            <a:r>
              <a:rPr lang="de-DE" sz="1200" dirty="0" smtClean="0">
                <a:solidFill>
                  <a:schemeClr val="accent1">
                    <a:lumMod val="75000"/>
                  </a:schemeClr>
                </a:solidFill>
              </a:rPr>
              <a:t> hex </a:t>
            </a:r>
            <a:r>
              <a:rPr lang="de-DE" sz="1200" dirty="0" err="1" smtClean="0">
                <a:solidFill>
                  <a:schemeClr val="accent1">
                    <a:lumMod val="75000"/>
                  </a:schemeClr>
                </a:solidFill>
              </a:rPr>
              <a:t>value</a:t>
            </a:r>
            <a:r>
              <a:rPr lang="de-DE" sz="1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1200" dirty="0" err="1" smtClean="0">
                <a:solidFill>
                  <a:schemeClr val="accent1">
                    <a:lumMod val="75000"/>
                  </a:schemeClr>
                </a:solidFill>
              </a:rPr>
              <a:t>to</a:t>
            </a:r>
            <a:r>
              <a:rPr lang="de-DE" sz="1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1200" dirty="0" err="1" smtClean="0">
                <a:solidFill>
                  <a:schemeClr val="accent1">
                    <a:lumMod val="75000"/>
                  </a:schemeClr>
                </a:solidFill>
              </a:rPr>
              <a:t>decimal</a:t>
            </a:r>
            <a:endParaRPr lang="de-DE" sz="12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de-DE" sz="1200" dirty="0" err="1" smtClean="0">
                <a:solidFill>
                  <a:schemeClr val="accent1">
                    <a:lumMod val="75000"/>
                  </a:schemeClr>
                </a:solidFill>
              </a:rPr>
              <a:t>Hexstring</a:t>
            </a:r>
            <a:r>
              <a:rPr lang="de-DE" sz="1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1200" dirty="0" smtClean="0">
                <a:solidFill>
                  <a:schemeClr val="accent1">
                    <a:lumMod val="75000"/>
                  </a:schemeClr>
                </a:solidFill>
              </a:rPr>
              <a:t>„0190“ = 400 </a:t>
            </a:r>
            <a:r>
              <a:rPr lang="de-DE" sz="1200" dirty="0" err="1" smtClean="0">
                <a:solidFill>
                  <a:schemeClr val="accent1">
                    <a:lumMod val="75000"/>
                  </a:schemeClr>
                </a:solidFill>
              </a:rPr>
              <a:t>dec</a:t>
            </a:r>
            <a:r>
              <a:rPr lang="de-DE" sz="12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11" name="Pfeil nach rechts 10"/>
          <p:cNvSpPr/>
          <p:nvPr/>
        </p:nvSpPr>
        <p:spPr>
          <a:xfrm>
            <a:off x="6383112" y="5493231"/>
            <a:ext cx="628073" cy="3077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/>
          <p:cNvSpPr txBox="1"/>
          <p:nvPr/>
        </p:nvSpPr>
        <p:spPr>
          <a:xfrm>
            <a:off x="7269018" y="5385903"/>
            <a:ext cx="159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400/16 = 25cm</a:t>
            </a:r>
            <a:endParaRPr lang="de-DE" dirty="0"/>
          </a:p>
        </p:txBody>
      </p:sp>
      <p:cxnSp>
        <p:nvCxnSpPr>
          <p:cNvPr id="14" name="Gerade Verbindung mit Pfeil 13"/>
          <p:cNvCxnSpPr/>
          <p:nvPr/>
        </p:nvCxnSpPr>
        <p:spPr>
          <a:xfrm>
            <a:off x="6922165" y="4259789"/>
            <a:ext cx="1145309" cy="871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/>
          <p:cNvSpPr txBox="1"/>
          <p:nvPr/>
        </p:nvSpPr>
        <p:spPr>
          <a:xfrm>
            <a:off x="4959016" y="6016453"/>
            <a:ext cx="37887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>
                <a:solidFill>
                  <a:schemeClr val="accent1">
                    <a:lumMod val="75000"/>
                  </a:schemeClr>
                </a:solidFill>
              </a:rPr>
              <a:t>25cm</a:t>
            </a:r>
            <a:r>
              <a:rPr lang="de-DE" sz="1400" dirty="0" smtClean="0"/>
              <a:t> </a:t>
            </a:r>
            <a:r>
              <a:rPr lang="de-DE" sz="1400" dirty="0" err="1" smtClean="0"/>
              <a:t>is</a:t>
            </a:r>
            <a:r>
              <a:rPr lang="de-DE" sz="1400" dirty="0" smtClean="0"/>
              <a:t> </a:t>
            </a:r>
            <a:r>
              <a:rPr lang="de-DE" sz="1400" dirty="0" err="1" smtClean="0"/>
              <a:t>the</a:t>
            </a:r>
            <a:r>
              <a:rPr lang="de-DE" sz="1400" dirty="0" smtClean="0"/>
              <a:t> real </a:t>
            </a:r>
            <a:r>
              <a:rPr lang="de-DE" sz="1400" dirty="0" err="1" smtClean="0"/>
              <a:t>process</a:t>
            </a:r>
            <a:r>
              <a:rPr lang="de-DE" sz="1400" dirty="0" smtClean="0"/>
              <a:t> </a:t>
            </a:r>
            <a:r>
              <a:rPr lang="de-DE" sz="1400" dirty="0" err="1" smtClean="0"/>
              <a:t>value</a:t>
            </a:r>
            <a:r>
              <a:rPr lang="de-DE" sz="1400" dirty="0" smtClean="0"/>
              <a:t> </a:t>
            </a:r>
            <a:r>
              <a:rPr lang="de-DE" sz="1400" dirty="0" err="1" smtClean="0"/>
              <a:t>interpreted</a:t>
            </a:r>
            <a:r>
              <a:rPr lang="de-DE" sz="1400" dirty="0" smtClean="0"/>
              <a:t> </a:t>
            </a:r>
            <a:r>
              <a:rPr lang="de-DE" sz="1400" dirty="0" err="1" smtClean="0"/>
              <a:t>from</a:t>
            </a:r>
            <a:r>
              <a:rPr lang="de-DE" sz="1400" dirty="0" smtClean="0"/>
              <a:t> </a:t>
            </a:r>
          </a:p>
          <a:p>
            <a:r>
              <a:rPr lang="de-DE" sz="1400" dirty="0" err="1" smtClean="0"/>
              <a:t>the</a:t>
            </a:r>
            <a:r>
              <a:rPr lang="de-DE" sz="1400" dirty="0" smtClean="0"/>
              <a:t> </a:t>
            </a:r>
            <a:r>
              <a:rPr lang="de-DE" sz="1400" dirty="0" err="1" smtClean="0"/>
              <a:t>given</a:t>
            </a:r>
            <a:r>
              <a:rPr lang="de-DE" sz="1400" dirty="0" smtClean="0"/>
              <a:t> Gradient </a:t>
            </a:r>
            <a:r>
              <a:rPr lang="de-DE" sz="1400" dirty="0" err="1" smtClean="0"/>
              <a:t>and</a:t>
            </a:r>
            <a:r>
              <a:rPr lang="de-DE" sz="1400" dirty="0" smtClean="0"/>
              <a:t> Unit </a:t>
            </a:r>
            <a:r>
              <a:rPr lang="de-DE" sz="1400" dirty="0" err="1" smtClean="0"/>
              <a:t>of</a:t>
            </a:r>
            <a:r>
              <a:rPr lang="de-DE" sz="1400" dirty="0" smtClean="0"/>
              <a:t> </a:t>
            </a:r>
            <a:r>
              <a:rPr lang="de-DE" sz="1400" dirty="0" err="1" smtClean="0"/>
              <a:t>measure</a:t>
            </a:r>
            <a:r>
              <a:rPr lang="de-DE" sz="1400" dirty="0" smtClean="0"/>
              <a:t> </a:t>
            </a:r>
            <a:r>
              <a:rPr lang="de-DE" sz="1400" dirty="0" err="1" smtClean="0"/>
              <a:t>from</a:t>
            </a:r>
            <a:r>
              <a:rPr lang="de-DE" sz="1400" dirty="0" smtClean="0"/>
              <a:t> </a:t>
            </a:r>
            <a:r>
              <a:rPr lang="de-DE" sz="1400" dirty="0" err="1" smtClean="0"/>
              <a:t>the</a:t>
            </a:r>
            <a:r>
              <a:rPr lang="de-DE" sz="1400" dirty="0" smtClean="0"/>
              <a:t> </a:t>
            </a:r>
          </a:p>
          <a:p>
            <a:r>
              <a:rPr lang="de-DE" sz="1400" dirty="0" smtClean="0"/>
              <a:t>O5D150‘s IO Device Description</a:t>
            </a:r>
            <a:endParaRPr lang="de-DE" sz="1400" dirty="0"/>
          </a:p>
        </p:txBody>
      </p:sp>
      <p:sp>
        <p:nvSpPr>
          <p:cNvPr id="13" name="Textfeld 12"/>
          <p:cNvSpPr txBox="1"/>
          <p:nvPr/>
        </p:nvSpPr>
        <p:spPr>
          <a:xfrm>
            <a:off x="5764122" y="693086"/>
            <a:ext cx="3381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Example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2: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Get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input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process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data</a:t>
            </a:r>
            <a:endParaRPr lang="de-DE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7454533" y="4473888"/>
            <a:ext cx="1689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 smtClean="0">
                <a:solidFill>
                  <a:schemeClr val="accent1">
                    <a:lumMod val="75000"/>
                  </a:schemeClr>
                </a:solidFill>
              </a:rPr>
              <a:t>Shift</a:t>
            </a:r>
            <a:r>
              <a:rPr lang="de-DE" sz="1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1200" dirty="0" err="1" smtClean="0">
                <a:solidFill>
                  <a:schemeClr val="accent1">
                    <a:lumMod val="75000"/>
                  </a:schemeClr>
                </a:solidFill>
              </a:rPr>
              <a:t>by</a:t>
            </a:r>
            <a:r>
              <a:rPr lang="de-DE" sz="1200" dirty="0" smtClean="0">
                <a:solidFill>
                  <a:schemeClr val="accent1">
                    <a:lumMod val="75000"/>
                  </a:schemeClr>
                </a:solidFill>
              </a:rPr>
              <a:t> 4 (</a:t>
            </a:r>
            <a:r>
              <a:rPr lang="de-DE" sz="1200" dirty="0" err="1" smtClean="0">
                <a:solidFill>
                  <a:schemeClr val="accent1">
                    <a:lumMod val="75000"/>
                  </a:schemeClr>
                </a:solidFill>
              </a:rPr>
              <a:t>devide</a:t>
            </a:r>
            <a:r>
              <a:rPr lang="de-DE" sz="1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1200" dirty="0" err="1" smtClean="0">
                <a:solidFill>
                  <a:schemeClr val="accent1">
                    <a:lumMod val="75000"/>
                  </a:schemeClr>
                </a:solidFill>
              </a:rPr>
              <a:t>by</a:t>
            </a:r>
            <a:r>
              <a:rPr lang="de-DE" sz="1200" dirty="0" smtClean="0">
                <a:solidFill>
                  <a:schemeClr val="accent1">
                    <a:lumMod val="75000"/>
                  </a:schemeClr>
                </a:solidFill>
              </a:rPr>
              <a:t> 16)</a:t>
            </a:r>
            <a:endParaRPr lang="de-DE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Abgerundetes Rechteck 5"/>
          <p:cNvSpPr/>
          <p:nvPr/>
        </p:nvSpPr>
        <p:spPr>
          <a:xfrm>
            <a:off x="8552873" y="2373745"/>
            <a:ext cx="313057" cy="2124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7" name="Gerade Verbindung mit Pfeil 16"/>
          <p:cNvCxnSpPr/>
          <p:nvPr/>
        </p:nvCxnSpPr>
        <p:spPr>
          <a:xfrm flipH="1">
            <a:off x="8552873" y="2648823"/>
            <a:ext cx="156528" cy="28444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338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oryboard-Layou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652</Words>
  <Application>Microsoft Office PowerPoint</Application>
  <PresentationFormat>Bildschirmpräsentation (4:3)</PresentationFormat>
  <Paragraphs>128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ＭＳ Ｐゴシック</vt:lpstr>
      <vt:lpstr>Arial</vt:lpstr>
      <vt:lpstr>Calibri</vt:lpstr>
      <vt:lpstr>Calibri Light</vt:lpstr>
      <vt:lpstr>Office</vt:lpstr>
      <vt:lpstr>Storyboard-Layouts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ifm electronic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Zribi, Jamel</dc:creator>
  <cp:lastModifiedBy>Zribi, Jamel</cp:lastModifiedBy>
  <cp:revision>79</cp:revision>
  <dcterms:created xsi:type="dcterms:W3CDTF">2019-01-18T07:44:17Z</dcterms:created>
  <dcterms:modified xsi:type="dcterms:W3CDTF">2019-02-26T06:54:43Z</dcterms:modified>
</cp:coreProperties>
</file>